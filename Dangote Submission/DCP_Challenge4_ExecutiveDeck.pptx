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6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48" d="100"/>
          <a:sy n="48" d="100"/>
        </p:scale>
        <p:origin x="53" y="8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70123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acknowledging DCP's ambition for operational excellence. Frame this as infrastructure for performance improvement, not just a reporting tool. The four plants represent Nigeria's largest cement capacity.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Anchor each pain point to operational reality. Manual reporting at Dangote's scale — 17.7Mt Nigeria volumes in 2025 — creates compounding risk. Each point maps directly to a challenge deliverable.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financial figures come directly from Dangote Cement's 2025 full-year results presentation. These numbers anchor our business case — our KPIs directly drive the cost lines that determine EBITDA margin.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sets up the 'why' behind our solution. Three root causes map directly to three solution components: Power Apps (standardised entry), Power Automate (validation + governance), Power BI (visibility).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057C1-AAEF-19DD-A8B6-4C13C6104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FE86CF-1122-9978-3F5D-196E1816F3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4A25D4-E20C-91E1-4B1D-A0F921A3CA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hero slide. Walk through the architecture left to right — data enters via Power Apps, lands in SharePoint, Power Automate validates and routes for approval, clean data moves to Dataverse, Power BI serves role-filtered dashboards. Every component addresses a root cause from Slide 4.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E431A2-8CB7-1F0B-FE87-7DF76652B0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673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that this is deployable within DCP's existing Microsoft ecosystem. The only incremental cost is Dataverse premium licences, and those are limited to the reporting/admin tier only — not every plant operator.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EBITDA bridge — judges want to see commercial understanding. The ROI is overwhelming: ~₦9B+ in conservative savings against ₦16M implementation cost. Keep cost estimates conservative and note they are indicative.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skip the sustainability angle — Dangote's TSR programme is a stated executive priority from the 2025 results. Linking our KPI system to their alternative fuel targets shows strategic awareness beyond just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Anchor Phase 1 as a 30-day sprint to prove value at Obajana before committing to full rollout. This de-risks the investment and gives DCP a real proof-of-concept they can evaluate before Phase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confidence. The recommendation is clear, the ROI is compelling, and the risk is low because you're proposing a pilot — not a full commitment. Pause after each of the five reasons and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3200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kern="0" spc="600" dirty="0">
                <a:solidFill>
                  <a:srgbClr val="FFFFFF"/>
                </a:solidFill>
              </a:rPr>
              <a:t>DANGOTE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74320" y="8686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400" dirty="0">
                <a:solidFill>
                  <a:srgbClr val="FFFFFF"/>
                </a:solidFill>
              </a:rPr>
              <a:t>CEMENT PLC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298448"/>
            <a:ext cx="3291840" cy="0"/>
          </a:xfrm>
          <a:prstGeom prst="line">
            <a:avLst/>
          </a:prstGeom>
          <a:noFill/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1371600" cy="292608"/>
          </a:xfrm>
          <a:prstGeom prst="rect">
            <a:avLst/>
          </a:prstGeom>
          <a:solidFill>
            <a:srgbClr val="922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4630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CHALLENGE 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192024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</a:rPr>
              <a:t>Digital KPI</a:t>
            </a:r>
            <a:endParaRPr lang="en-US" sz="3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</a:rPr>
              <a:t>Automation &amp;</a:t>
            </a:r>
            <a:endParaRPr lang="en-US" sz="3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</a:rPr>
              <a:t>Data Quality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74320" y="41148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A Power Platform Solution for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Obajana · Ibese · Gboko · Okpella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" y="62179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</a:rPr>
              <a:t>Dangote Industries Innovation Challenge  |  2025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297680" y="16459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FFFFFF"/>
                </a:solidFill>
              </a:rPr>
              <a:t>Transforming Manual Plant Reporting</a:t>
            </a:r>
            <a:endParaRPr lang="en-US" sz="2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FFFFFF"/>
                </a:solidFill>
              </a:rPr>
              <a:t>into a Governed Digital System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297680" y="2880360"/>
            <a:ext cx="7315200" cy="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297680" y="3108960"/>
            <a:ext cx="1691640" cy="1280160"/>
          </a:xfrm>
          <a:prstGeom prst="rect">
            <a:avLst/>
          </a:prstGeom>
          <a:solidFill>
            <a:srgbClr val="2C3E50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297680" y="320040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0392B"/>
                </a:solidFill>
              </a:rPr>
              <a:t>15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297680" y="37947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DC3C7"/>
                </a:solidFill>
              </a:rPr>
              <a:t>Core KPIs Tracked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72200" y="3108960"/>
            <a:ext cx="1691640" cy="1280160"/>
          </a:xfrm>
          <a:prstGeom prst="rect">
            <a:avLst/>
          </a:prstGeom>
          <a:solidFill>
            <a:srgbClr val="2C3E50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172200" y="320040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0392B"/>
                </a:solidFill>
              </a:rPr>
              <a:t>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172200" y="37947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DC3C7"/>
                </a:solidFill>
              </a:rPr>
              <a:t>Plants Connected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046720" y="3108960"/>
            <a:ext cx="1691640" cy="1280160"/>
          </a:xfrm>
          <a:prstGeom prst="rect">
            <a:avLst/>
          </a:prstGeom>
          <a:solidFill>
            <a:srgbClr val="2C3E50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046720" y="320040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0392B"/>
                </a:solidFill>
              </a:rPr>
              <a:t>5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8046720" y="37947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DC3C7"/>
                </a:solidFill>
              </a:rPr>
              <a:t>User Roles &amp; RLS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921240" y="3108960"/>
            <a:ext cx="1691640" cy="1280160"/>
          </a:xfrm>
          <a:prstGeom prst="rect">
            <a:avLst/>
          </a:prstGeom>
          <a:solidFill>
            <a:srgbClr val="2C3E50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921240" y="320040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0392B"/>
                </a:solidFill>
              </a:rPr>
              <a:t>100%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9921240" y="37947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DC3C7"/>
                </a:solidFill>
              </a:rPr>
              <a:t>Digital Reporting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297680" y="4663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DC3C7"/>
                </a:solidFill>
              </a:rPr>
              <a:t>Solution Stack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297680" y="5029200"/>
            <a:ext cx="2286000" cy="347472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297680" y="50292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Power Apps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766560" y="5029200"/>
            <a:ext cx="2286000" cy="347472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766560" y="50292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Power Automate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235440" y="5029200"/>
            <a:ext cx="2286000" cy="347472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9235440" y="50292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SharePoint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297680" y="5532120"/>
            <a:ext cx="2286000" cy="347472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297680" y="55321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Dataverse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766560" y="5532120"/>
            <a:ext cx="2286000" cy="347472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766560" y="55321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Power BI + RLS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256032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2560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SLIDE 02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920240" y="16459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Current-State Problem Diagnosis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C3E50"/>
                </a:solidFill>
              </a:rPr>
              <a:t>DCP's plant performance reporting across four sites depends entirely on manual processes — creating systemic risks that scale with the business.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36118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ED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1874520"/>
            <a:ext cx="457200" cy="457200"/>
          </a:xfrm>
          <a:prstGeom prst="lin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15568" y="189280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Reporting Delays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37744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</a:rPr>
              <a:t>Data submitted after decision windows close, forcing management to act on yesterday's numbers.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78808" y="1691640"/>
            <a:ext cx="36118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ED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361688" y="1874520"/>
            <a:ext cx="457200" cy="457200"/>
          </a:xfrm>
          <a:prstGeom prst="line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28616" y="189280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Inconsistent Templates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61688" y="237744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</a:rPr>
              <a:t>Each plant uses its own format — cross-plant comparison is manual, error-prone, and time-consuming.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991856" y="1691640"/>
            <a:ext cx="36118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ED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174736" y="1874520"/>
            <a:ext cx="457200" cy="457200"/>
          </a:xfrm>
          <a:prstGeom prst="lin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741664" y="189280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Missing Numbers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174736" y="237744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</a:rPr>
              <a:t>No enforcement on required fields. KPI gaps appear in reports after the fact with no audit trail.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3703320"/>
            <a:ext cx="36118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ED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48640" y="3886200"/>
            <a:ext cx="457200" cy="457200"/>
          </a:xfrm>
          <a:prstGeom prst="line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115568" y="390448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No Validation Layer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438912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</a:rPr>
              <a:t>Implausible values (zero clinker output, negative downtime) pass through unchecked into dashboards.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178808" y="3703320"/>
            <a:ext cx="36118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ED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361688" y="3886200"/>
            <a:ext cx="457200" cy="457200"/>
          </a:xfrm>
          <a:prstGeom prst="line">
            <a:avLst/>
          </a:prstGeom>
          <a:solidFill>
            <a:srgbClr val="2980B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928616" y="390448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Weak Traceability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361688" y="438912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</a:rPr>
              <a:t>Who submitted? Who approved? When? These questions cannot be answered reliably under the current system.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991856" y="3703320"/>
            <a:ext cx="36118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ED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174736" y="3886200"/>
            <a:ext cx="457200" cy="457200"/>
          </a:xfrm>
          <a:prstGeom prst="line">
            <a:avLst/>
          </a:prstGeom>
          <a:solidFill>
            <a:srgbClr val="8E44A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741664" y="390448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Poor Exception Visibility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174736" y="438912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</a:rPr>
              <a:t>Management learns of production issues through verbal escalation — not through live exception alerts.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65760" y="5943600"/>
            <a:ext cx="11430000" cy="59436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57200" y="594360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</a:rPr>
              <a:t>These are not isolated incidents — they are structural failures of a manual system operating at 35+ Mta scale across four geographically distributed plants.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256032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2560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SLIDE 03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920240" y="16459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 Insights &amp; Key Assumptions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</a:rPr>
              <a:t>15 Core KPIs Across 4 Categories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54864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ED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09728" cy="77724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66928" y="15727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980B9"/>
                </a:solidFill>
              </a:rPr>
              <a:t>5 KPIs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63040" y="15544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Production &amp; Throughput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463040" y="18288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66573"/>
                </a:solidFill>
              </a:rPr>
              <a:t>Clinker Vol · Cement Vol · Kiln Util · OEE · Clinker Factor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2423160"/>
            <a:ext cx="54864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ED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" y="2423160"/>
            <a:ext cx="109728" cy="77724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66928" y="24871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A085"/>
                </a:solidFill>
              </a:rPr>
              <a:t>3 KPIs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63040" y="24688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Energy &amp; Utilities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463040" y="27432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66573"/>
                </a:solidFill>
              </a:rPr>
              <a:t>Specific Heat · Specific Power · Thermal Substitution Rate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3337560"/>
            <a:ext cx="54864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ED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65760" y="3337560"/>
            <a:ext cx="109728" cy="7772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66928" y="34015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AE60"/>
                </a:solidFill>
              </a:rPr>
              <a:t>3 KPIs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63040" y="33832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Quality &amp; Compliance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463040" y="36576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66573"/>
                </a:solidFill>
              </a:rPr>
              <a:t>Free Lime · Blaine Fineness · Off-spec Batch Rate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4251960"/>
            <a:ext cx="54864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ED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65760" y="4251960"/>
            <a:ext cx="109728" cy="7772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66928" y="43159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7E22"/>
                </a:solidFill>
              </a:rPr>
              <a:t>3 KPIs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463040" y="42976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Maintenance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463040" y="4572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66573"/>
                </a:solidFill>
              </a:rPr>
              <a:t>PM Compliance · MTBF · Maintenance Cost per Tonne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" y="5166360"/>
            <a:ext cx="54864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ED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65760" y="5166360"/>
            <a:ext cx="109728" cy="7772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66928" y="52303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392B"/>
                </a:solidFill>
              </a:rPr>
              <a:t>1 KPI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463040" y="52120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Governance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463040" y="54864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66573"/>
                </a:solidFill>
              </a:rPr>
              <a:t>Submission Timeliness — tracks reporting discipline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492240" y="10515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</a:rPr>
              <a:t>DCP 2025 Financial Anchors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492240" y="1508760"/>
            <a:ext cx="2468880" cy="1234440"/>
          </a:xfrm>
          <a:prstGeom prst="rect">
            <a:avLst/>
          </a:prstGeom>
          <a:solidFill>
            <a:srgbClr val="C0392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492240" y="1618488"/>
            <a:ext cx="246888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₦681.9B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6492240" y="2224735"/>
            <a:ext cx="246888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DC3C7"/>
                </a:solidFill>
              </a:rPr>
              <a:t>Fuel &amp; Power Cost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DC3C7"/>
                </a:solidFill>
              </a:rPr>
              <a:t>(2025)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9189720" y="1508760"/>
            <a:ext cx="2468880" cy="1234440"/>
          </a:xfrm>
          <a:prstGeom prst="rect">
            <a:avLst/>
          </a:prstGeom>
          <a:solidFill>
            <a:srgbClr val="E67E22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9189720" y="1618488"/>
            <a:ext cx="246888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₦165.9B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9189720" y="2224735"/>
            <a:ext cx="246888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DC3C7"/>
                </a:solidFill>
              </a:rPr>
              <a:t>Plant Maintenance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DC3C7"/>
                </a:solidFill>
              </a:rPr>
              <a:t>Cost (2025)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492240" y="2971800"/>
            <a:ext cx="2468880" cy="1234440"/>
          </a:xfrm>
          <a:prstGeom prst="rect">
            <a:avLst/>
          </a:prstGeom>
          <a:solidFill>
            <a:srgbClr val="27AE60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492240" y="3081528"/>
            <a:ext cx="246888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59.6%</a:t>
            </a:r>
            <a:endParaRPr lang="en-US" sz="2800" dirty="0"/>
          </a:p>
        </p:txBody>
      </p:sp>
      <p:sp>
        <p:nvSpPr>
          <p:cNvPr id="41" name="Text 39"/>
          <p:cNvSpPr/>
          <p:nvPr/>
        </p:nvSpPr>
        <p:spPr>
          <a:xfrm>
            <a:off x="6492240" y="3687775"/>
            <a:ext cx="246888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DC3C7"/>
                </a:solidFill>
              </a:rPr>
              <a:t>Nigeria EBITDA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DC3C7"/>
                </a:solidFill>
              </a:rPr>
              <a:t>Margin (2025)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9189720" y="2971800"/>
            <a:ext cx="2468880" cy="1234440"/>
          </a:xfrm>
          <a:prstGeom prst="rect">
            <a:avLst/>
          </a:prstGeom>
          <a:solidFill>
            <a:srgbClr val="2980B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9189720" y="3081528"/>
            <a:ext cx="246888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17.7Mt</a:t>
            </a:r>
            <a:endParaRPr lang="en-US" sz="2800" dirty="0"/>
          </a:p>
        </p:txBody>
      </p:sp>
      <p:sp>
        <p:nvSpPr>
          <p:cNvPr id="44" name="Text 42"/>
          <p:cNvSpPr/>
          <p:nvPr/>
        </p:nvSpPr>
        <p:spPr>
          <a:xfrm>
            <a:off x="9189720" y="3687775"/>
            <a:ext cx="246888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DC3C7"/>
                </a:solidFill>
              </a:rPr>
              <a:t>Nigeria Cement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DC3C7"/>
                </a:solidFill>
              </a:rPr>
              <a:t>Volume (2025)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492240" y="4526280"/>
            <a:ext cx="5303520" cy="1691640"/>
          </a:xfrm>
          <a:prstGeom prst="rect">
            <a:avLst/>
          </a:prstGeom>
          <a:solidFill>
            <a:srgbClr val="F4F6F7"/>
          </a:solidFill>
          <a:ln w="635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629400" y="46177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Key Assumptions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629400" y="4956048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</a:rPr>
              <a:t>DCP operates Microsoft 365 — Power Platform is available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</a:rPr>
              <a:t>Plant operators have basic digital literacy for form entry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</a:rPr>
              <a:t>KPI benchmarks reference cement industry standards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</a:rPr>
              <a:t>Pilot begins at Obajana (highest complexity, 5 lines)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</a:rPr>
              <a:t>Dataverse premium licensing approved for reporting tier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256032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2560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SLIDE 04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920240" y="16459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Root-Cause Hypothesis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11430000" cy="91440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00584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</a:rPr>
              <a:t>Root Cause: DCP lacks a single, enforced data entry standard and automated validation layer across its four Nigerian plants — causing downstream reporting failures at every management level.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103120"/>
            <a:ext cx="374904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ED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2103120"/>
            <a:ext cx="3749040" cy="822960"/>
          </a:xfrm>
          <a:prstGeom prst="rect">
            <a:avLst/>
          </a:prstGeom>
          <a:solidFill>
            <a:srgbClr val="2980B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21488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01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188720" y="2176272"/>
            <a:ext cx="283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</a:rPr>
              <a:t>No Standardised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</a:rPr>
              <a:t>Entry Point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3035808"/>
            <a:ext cx="3383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</a:rPr>
              <a:t>Each plant uses different Excel templates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</a:rPr>
              <a:t>No mandatory field enforcement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</a:rPr>
              <a:t>Formatting varies — consolidation is manual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</a:rPr>
              <a:t>No plant-level timestamp or submitter ID captured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97680" y="2103120"/>
            <a:ext cx="374904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ED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297680" y="2103120"/>
            <a:ext cx="3749040" cy="82296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480560" y="21488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02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120640" y="2176272"/>
            <a:ext cx="283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</a:rPr>
              <a:t>No Automated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</a:rPr>
              <a:t>Validation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480560" y="3035808"/>
            <a:ext cx="3383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</a:rPr>
              <a:t>Data goes directly to reports without checks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</a:rPr>
              <a:t>Out-of-range values pass through undetected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</a:rPr>
              <a:t>Missing fields only discovered during review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</a:rPr>
              <a:t>No exception classification or severity tiering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229600" y="2103120"/>
            <a:ext cx="374904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ED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229600" y="2103120"/>
            <a:ext cx="3749040" cy="822960"/>
          </a:xfrm>
          <a:prstGeom prst="rect">
            <a:avLst/>
          </a:prstGeom>
          <a:solidFill>
            <a:srgbClr val="8E44A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412480" y="21488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03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9052560" y="2176272"/>
            <a:ext cx="283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</a:rPr>
              <a:t>No Governance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</a:rPr>
              <a:t>or Accountability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412480" y="3035808"/>
            <a:ext cx="3383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</a:rPr>
              <a:t>No formal sign-off or approval workflow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</a:rPr>
              <a:t>Escalation is verbal — not documented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</a:rPr>
              <a:t>No audit trail of submissions or changes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</a:rPr>
              <a:t>Timeliness is tracked manually (or not at all)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5760" y="6126480"/>
            <a:ext cx="11430000" cy="438912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612648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No Standard Entry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691640" y="612648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0392B"/>
                </a:solidFill>
              </a:rPr>
              <a:t>→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926080" y="612648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No Validation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160520" y="612648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0392B"/>
                </a:solidFill>
              </a:rPr>
              <a:t>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394960" y="612648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No Accountability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629400" y="612648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0392B"/>
                </a:solidFill>
              </a:rPr>
              <a:t>→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863840" y="612648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Unreliable KPI Data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098280" y="612648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0392B"/>
                </a:solidFill>
              </a:rPr>
              <a:t>→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332720" y="612648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Poor Management Decisions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C03803-392D-85BE-DAF2-49D952DAB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93982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256032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2560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SLIDE 06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920240" y="16459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Technical Feasibility &amp; Operating Concept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</a:rPr>
              <a:t>Daily Operating Cycle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53035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ED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536192"/>
            <a:ext cx="457200" cy="457200"/>
          </a:xfrm>
          <a:prstGeom prst="line">
            <a:avLst/>
          </a:prstGeom>
          <a:solidFill>
            <a:srgbClr val="2980B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536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51560" y="15544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Operator Submits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51560" y="187452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</a:rPr>
              <a:t>Plant operator opens Power Apps form on any device. Enters raw inputs for production, energy, quality, and maintenance. System captures Plant ID, timestamp, and user ID automatically.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697480"/>
            <a:ext cx="53035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ED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" y="2770632"/>
            <a:ext cx="457200" cy="457200"/>
          </a:xfrm>
          <a:prstGeom prst="line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2770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51560" y="27889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Auto-Validation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51560" y="310896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</a:rPr>
              <a:t>Power Automate runs completeness and range checks instantly. Flags exceptions with severity levels (Warning, Critical, Blocker). Quality breaches generate Non-Conformance Records routed to the Data Quality Officer.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3931920"/>
            <a:ext cx="53035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ED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4005072"/>
            <a:ext cx="457200" cy="457200"/>
          </a:xfrm>
          <a:prstGeom prst="line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4005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51560" y="40233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Manager Sign-Off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51560" y="434340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</a:rPr>
              <a:t>Plant Manager receives Teams + Email approval request. Must approve within 24 hours. Reminder at T+12h, escalation to Regional Manager at T+24h, Executive at T+48h.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5166360"/>
            <a:ext cx="53035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ED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57200" y="5239512"/>
            <a:ext cx="457200" cy="457200"/>
          </a:xfrm>
          <a:prstGeom prst="line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5239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51560" y="52578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Dataverse Promotion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51560" y="557784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</a:rPr>
              <a:t>Approved submissions are automatically pushed from SharePoint (Tier 1) to Dataverse (Tier 2). Power BI refreshes. All four plant dashboards update simultaneously.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400800" y="1051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</a:rPr>
              <a:t>Why Power Platform is Feasible for DCP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400800" y="1481328"/>
            <a:ext cx="54864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AED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510528" y="1572768"/>
            <a:ext cx="329184" cy="329184"/>
          </a:xfrm>
          <a:prstGeom prst="line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510528" y="1572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949440" y="155448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Microsoft 365 already deployed at DCP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949440" y="181051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66573"/>
                </a:solidFill>
              </a:rPr>
              <a:t>No new licensing required for entry tier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400800" y="2304288"/>
            <a:ext cx="54864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AED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510528" y="2395728"/>
            <a:ext cx="329184" cy="329184"/>
          </a:xfrm>
          <a:prstGeom prst="line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510528" y="23957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949440" y="237744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Power Apps runs on any browser or mobile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949440" y="263347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66573"/>
                </a:solidFill>
              </a:rPr>
              <a:t>No hardware investment at plant level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400800" y="3127248"/>
            <a:ext cx="54864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AED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510528" y="3218688"/>
            <a:ext cx="329184" cy="329184"/>
          </a:xfrm>
          <a:prstGeom prst="line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510528" y="32186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949440" y="320040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SharePoint included in M365 subscription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949440" y="345643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66573"/>
                </a:solidFill>
              </a:rPr>
              <a:t>Tier 1 storage at zero incremental cost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400800" y="3950208"/>
            <a:ext cx="54864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AED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6510528" y="4041648"/>
            <a:ext cx="329184" cy="329184"/>
          </a:xfrm>
          <a:prstGeom prst="line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510528" y="4041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949440" y="402336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Power Automate handles approval routing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949440" y="42793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66573"/>
                </a:solidFill>
              </a:rPr>
              <a:t>No custom code — configurable by IT admin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400800" y="4773168"/>
            <a:ext cx="54864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AED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6510528" y="4864608"/>
            <a:ext cx="329184" cy="329184"/>
          </a:xfrm>
          <a:prstGeom prst="line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510528" y="4864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949440" y="484632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Power BI Desktop is free to build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949440" y="510235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66573"/>
                </a:solidFill>
              </a:rPr>
              <a:t>Publish to Power BI Service for sharing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400800" y="5596128"/>
            <a:ext cx="5486400" cy="713232"/>
          </a:xfrm>
          <a:prstGeom prst="rect">
            <a:avLst/>
          </a:prstGeom>
          <a:solidFill>
            <a:srgbClr val="FFF8F8"/>
          </a:solidFill>
          <a:ln w="6350">
            <a:solidFill>
              <a:srgbClr val="E8EAED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6510528" y="5687568"/>
            <a:ext cx="329184" cy="329184"/>
          </a:xfrm>
          <a:prstGeom prst="line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6510528" y="56875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!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6949440" y="566928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Dataverse requires Power Apps Premium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949440" y="592531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66573"/>
                </a:solidFill>
              </a:rPr>
              <a:t>Needed for Tier 2 validated storage — licenced per user at reporting tier only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6400800" y="6473952"/>
            <a:ext cx="5486400" cy="256032"/>
          </a:xfrm>
          <a:prstGeom prst="rect">
            <a:avLst/>
          </a:prstGeom>
          <a:solidFill>
            <a:srgbClr val="F4F6F7"/>
          </a:solidFill>
          <a:ln w="635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6400800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66573"/>
                </a:solidFill>
              </a:rPr>
              <a:t>No Python · No custom database · No third-party software · Fully maintainable by DCP IT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256032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2560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SLIDE 07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920240" y="16459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Business Case &amp; Expected Impact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2651760" cy="1371600"/>
          </a:xfrm>
          <a:prstGeom prst="rect">
            <a:avLst/>
          </a:prstGeom>
          <a:solidFill>
            <a:srgbClr val="C0392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115568"/>
            <a:ext cx="26517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↓ ₦6–10B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1801368"/>
            <a:ext cx="26517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DC3C7"/>
                </a:solidFill>
              </a:rPr>
              <a:t>Est. Annual Fuel &amp; Energy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DC3C7"/>
                </a:solidFill>
              </a:rPr>
              <a:t>Savings from better SHC tracking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27832" y="1005840"/>
            <a:ext cx="2651760" cy="1371600"/>
          </a:xfrm>
          <a:prstGeom prst="rect">
            <a:avLst/>
          </a:prstGeom>
          <a:solidFill>
            <a:srgbClr val="E67E22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27832" y="1115568"/>
            <a:ext cx="26517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↓ ₦3–5B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227832" y="1801368"/>
            <a:ext cx="26517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DC3C7"/>
                </a:solidFill>
              </a:rPr>
              <a:t>Est. Maintenance Cost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DC3C7"/>
                </a:solidFill>
              </a:rPr>
              <a:t>Reduction from PM compliance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89904" y="1005840"/>
            <a:ext cx="2651760" cy="1371600"/>
          </a:xfrm>
          <a:prstGeom prst="rect">
            <a:avLst/>
          </a:prstGeom>
          <a:solidFill>
            <a:srgbClr val="2980B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089904" y="1115568"/>
            <a:ext cx="26517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&lt; 2 Hours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089904" y="1801368"/>
            <a:ext cx="26517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DC3C7"/>
                </a:solidFill>
              </a:rPr>
              <a:t>KPI Reporting Cycle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DC3C7"/>
                </a:solidFill>
              </a:rPr>
              <a:t>vs. current 24–48 hour manual process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951976" y="1005840"/>
            <a:ext cx="2651760" cy="1371600"/>
          </a:xfrm>
          <a:prstGeom prst="rect">
            <a:avLst/>
          </a:prstGeom>
          <a:solidFill>
            <a:srgbClr val="27AE60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951976" y="1115568"/>
            <a:ext cx="26517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&gt; 95%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8951976" y="1801368"/>
            <a:ext cx="26517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DC3C7"/>
                </a:solidFill>
              </a:rPr>
              <a:t>Target Data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DC3C7"/>
                </a:solidFill>
              </a:rPr>
              <a:t>Completeness &amp; Timeliness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2606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Cost vs. Benefit Summary</a:t>
            </a:r>
            <a:endParaRPr lang="en-US" sz="1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999232"/>
          <a:ext cx="5486400" cy="268224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Cost Item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Estimate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Notes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Power Apps Premium (Dataverse)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₦2–4M/yr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Reporting tier users only (~20 licences)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Power BI Pro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₦1–2M/yr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Managers + executives (~15 licences)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Implementation &amp; Training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₦5–8M one-off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IT setup, training, pilot deployment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Ongoing IT Administration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₦1–2M/yr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Part-time IT admin, no dedicated hire needed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Total Year 1 Cost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~₦9–16M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000000"/>
                          </a:solidFill>
                        </a:rPr>
                        <a:t>All-in including one-off costs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7AE60"/>
                          </a:solidFill>
                        </a:rPr>
                        <a:t>Conservative Annual Benefit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7AE60"/>
                          </a:solidFill>
                        </a:rPr>
                        <a:t>&gt;₦9B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000000"/>
                          </a:solidFill>
                        </a:rPr>
                        <a:t>Energy + maintenance savings alone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6400800" y="2606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KPI System → EBITDA Bridge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400800" y="2999232"/>
            <a:ext cx="54864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ED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6400800" y="2999232"/>
            <a:ext cx="91440" cy="5486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6583680" y="30449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</a:rPr>
              <a:t>Specific Heat Consumption KPI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6583680" y="3273552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66573"/>
                </a:solidFill>
              </a:rPr>
              <a:t>Direct driver of ₦681.9B fuel &amp; power cost line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6400800" y="3621024"/>
            <a:ext cx="54864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ED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6400800" y="3621024"/>
            <a:ext cx="91440" cy="5486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6583680" y="366674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</a:rPr>
              <a:t>Clinker Factor KPI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6583680" y="3895344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66573"/>
                </a:solidFill>
              </a:rPr>
              <a:t>Controls ₦385.5B materials consumed cost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6400800" y="4242816"/>
            <a:ext cx="54864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ED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6400800" y="4242816"/>
            <a:ext cx="91440" cy="5486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6583680" y="428853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</a:rPr>
              <a:t>PM Compliance + MTBF KPIs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6583680" y="4517136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66573"/>
                </a:solidFill>
              </a:rPr>
              <a:t>Reduces unplanned downtime in ₦165.9B maintenance cost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6400800" y="4864608"/>
            <a:ext cx="54864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ED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6400800" y="4864608"/>
            <a:ext cx="91440" cy="5486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6583680" y="49103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</a:rPr>
              <a:t>OEE + Kiln Utilization KPIs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6583680" y="5138928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66573"/>
                </a:solidFill>
              </a:rPr>
              <a:t>Drives volume output efficiency across 35 Mta capacity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6400800" y="5486400"/>
            <a:ext cx="54864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ED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6400800" y="5486400"/>
            <a:ext cx="91440" cy="5486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6583680" y="55321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</a:rPr>
              <a:t>Thermal Substitution Rate KPI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6583680" y="5760720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66573"/>
                </a:solidFill>
              </a:rPr>
              <a:t>Supports Dangote's 10% TSR target — direct fuel cost hedge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6400800" y="6108192"/>
            <a:ext cx="54864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ED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39"/>
          <p:cNvSpPr/>
          <p:nvPr/>
        </p:nvSpPr>
        <p:spPr>
          <a:xfrm>
            <a:off x="6400800" y="6108192"/>
            <a:ext cx="91440" cy="5486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6583680" y="61539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</a:rPr>
              <a:t>Submission Timeliness KPI</a:t>
            </a:r>
            <a:endParaRPr lang="en-US" sz="950" dirty="0"/>
          </a:p>
        </p:txBody>
      </p:sp>
      <p:sp>
        <p:nvSpPr>
          <p:cNvPr id="44" name="Text 41"/>
          <p:cNvSpPr/>
          <p:nvPr/>
        </p:nvSpPr>
        <p:spPr>
          <a:xfrm>
            <a:off x="6583680" y="6382512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66573"/>
                </a:solidFill>
              </a:rPr>
              <a:t>Reduces management decision lag — protects margin response time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393192" y="6382512"/>
            <a:ext cx="5486400" cy="256032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6" name="Text 43"/>
          <p:cNvSpPr/>
          <p:nvPr/>
        </p:nvSpPr>
        <p:spPr>
          <a:xfrm>
            <a:off x="457200" y="6371336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</a:rPr>
              <a:t>Nigeria EBITDA improved from 49.6% → 59.6% in 2025. This system provides the data infrastructure to sustain and extend that improvement.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256032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2560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SLIDE 08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920240" y="16459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Risk, Safety, Sustainability &amp; Mitigation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</a:rPr>
              <a:t>Risk Register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6246911"/>
              </p:ext>
            </p:extLst>
          </p:nvPr>
        </p:nvGraphicFramePr>
        <p:xfrm>
          <a:off x="365760" y="1417320"/>
          <a:ext cx="11430000" cy="4690291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17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55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Risk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Severity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Mitigation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55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Change Mgmt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Operator resistance to digital submission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</a:rPr>
                        <a:t>High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Phased rollout starting with Obajana. Champions programme — train 2 super-users per plant before go-live.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55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Technical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SharePoint 5,000-item list threshold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67E22"/>
                          </a:solidFill>
                        </a:rPr>
                        <a:t>Medium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Implement indexed columns and filtered views. Archive completed submissions quarterly to maintain performance.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768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Security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RLS misconfiguration — wrong data visible to users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</a:rPr>
                        <a:t>High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Dedicated Power BI RLS testing protocol before go-live. Role assignments managed centrally by IT admin only.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55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Licensing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Dataverse premium cost exceeds budget approval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67E22"/>
                          </a:solidFill>
                        </a:rPr>
                        <a:t>Medium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Limit Dataverse licences to reporting/admin tier. SharePoint entry tier requires no premium licence.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55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Continuity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Internet/network outage prevents form submission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67E22"/>
                          </a:solidFill>
                        </a:rPr>
                        <a:t>Medium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Power Apps offline mode enabled. Data syncs when connectivity restores. Paper backup form for critical outages.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55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Data Quality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Operators enter plausible-but-incorrect values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7AE60"/>
                          </a:solidFill>
                        </a:rPr>
                        <a:t>Low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Cross-validation rules comparing related KPIs (e.g. clinker consumed vs. cement produced ratio checks).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256032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2560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SLIDE 09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920240" y="16459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Implementation Roadmap &amp; Resources Required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370332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ED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3703320" cy="77724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0515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29844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Immediate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743200" y="1115568"/>
            <a:ext cx="1188720" cy="457200"/>
          </a:xfrm>
          <a:prstGeom prst="rect">
            <a:avLst/>
          </a:prstGeom>
          <a:solidFill>
            <a:srgbClr val="2C3E50"/>
          </a:solidFill>
          <a:ln w="12700">
            <a:solidFill>
              <a:srgbClr val="5665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43200" y="111556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 – 30 Days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1920240"/>
            <a:ext cx="34290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</a:rPr>
              <a:t>Configure SharePoint lists at Obajana (pilot plant)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</a:rPr>
              <a:t>Build Power Apps KPI entry form — all 5 input categories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</a:rPr>
              <a:t>Set up Power Automate validation flow (completeness + range rules)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</a:rPr>
              <a:t>Create DIM tables in Dataverse (Plant, KilnLine, User, Role)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</a:rPr>
              <a:t>Train 2 super-users at Obajana as change champions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</a:rPr>
              <a:t>Establish KPI submission deadline schedule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97680" y="1005840"/>
            <a:ext cx="370332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ED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297680" y="1005840"/>
            <a:ext cx="3703320" cy="777240"/>
          </a:xfrm>
          <a:prstGeom prst="rect">
            <a:avLst/>
          </a:prstGeom>
          <a:solidFill>
            <a:srgbClr val="2980B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434840" y="10515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434840" y="129844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Short-Term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675120" y="1115568"/>
            <a:ext cx="1188720" cy="457200"/>
          </a:xfrm>
          <a:prstGeom prst="rect">
            <a:avLst/>
          </a:prstGeom>
          <a:solidFill>
            <a:srgbClr val="2C3E50"/>
          </a:solidFill>
          <a:ln w="12700">
            <a:solidFill>
              <a:srgbClr val="5665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675120" y="111556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 – 3 Months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434840" y="1920240"/>
            <a:ext cx="34290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</a:rPr>
              <a:t>Go-live at all 4 plants after Obajana pilot review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</a:rPr>
              <a:t>Deploy Power Automate approval + escalation flows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</a:rPr>
              <a:t>Publish Power BI dashboards with RLS — all 5 role views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</a:rPr>
              <a:t>Connect SharePoint → Dataverse promotion workflow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</a:rPr>
              <a:t>Train all plant managers and data quality officers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</a:rPr>
              <a:t>Establish exception resolution SLA (48-hour target)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229600" y="1005840"/>
            <a:ext cx="370332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ED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229600" y="1005840"/>
            <a:ext cx="3703320" cy="77724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366760" y="10515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366760" y="129844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Medium-Term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0607040" y="1115568"/>
            <a:ext cx="1188720" cy="457200"/>
          </a:xfrm>
          <a:prstGeom prst="rect">
            <a:avLst/>
          </a:prstGeom>
          <a:solidFill>
            <a:srgbClr val="2C3E50"/>
          </a:solidFill>
          <a:ln w="12700">
            <a:solidFill>
              <a:srgbClr val="5665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0607040" y="111556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 – 6 Months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366760" y="1920240"/>
            <a:ext cx="34290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</a:rPr>
              <a:t>Integrate with ERP / SAP for financial KPI reconciliation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</a:rPr>
              <a:t>Add predictive exception rules based on historical patterns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</a:rPr>
              <a:t>SCADA integration for auto-population of production meter readings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</a:rPr>
              <a:t>Expand KPI set to full 25 (including supporting KPIs)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</a:rPr>
              <a:t>Executive Power BI app for mobile reporting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</a:rPr>
              <a:t>Annual KPI taxonomy review and validation rule update cycle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6327648"/>
            <a:ext cx="11430000" cy="32004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02920" y="63276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39C12"/>
                </a:solidFill>
              </a:rPr>
              <a:t>Resources Required: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377440" y="6327648"/>
            <a:ext cx="9235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1× IT admin (Power Platform)   ·   2× Super-users per plant   ·   Microsoft 365 tenant   ·   Dataverse premium (~20 licences)   ·   Power BI Pro (~15 licences)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274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SLIDE 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685800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</a:rPr>
              <a:t>Final</a:t>
            </a:r>
            <a:endParaRPr lang="en-US" sz="3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</a:rPr>
              <a:t>Recommendation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2240280"/>
            <a:ext cx="4023360" cy="0"/>
          </a:xfrm>
          <a:prstGeom prst="line">
            <a:avLst/>
          </a:prstGeom>
          <a:noFill/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23774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&amp; Pilot Proposal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74320" y="2971800"/>
            <a:ext cx="4023360" cy="2560320"/>
          </a:xfrm>
          <a:prstGeom prst="rect">
            <a:avLst/>
          </a:prstGeom>
          <a:solidFill>
            <a:srgbClr val="922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30632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Our Recommendation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3401568"/>
            <a:ext cx="3749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Deploy the DCP Digital KPI Reporting System using Microsoft Power Platform across all four Nigerian plants — beginning with a 30-day Obajana pilot — to eliminate manual reporting, enforce data quality, and give management the real-time operational visibility needed to sustain and grow Nigeria's 59.6% EBITDA margin.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74320" y="64922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</a:rPr>
              <a:t>Dangote Industries Innovation Challenge  |  Challenge 4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0" y="2743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Five Reasons to Approve This Proposal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029200" y="822960"/>
            <a:ext cx="6858000" cy="987552"/>
          </a:xfrm>
          <a:prstGeom prst="rect">
            <a:avLst/>
          </a:prstGeom>
          <a:solidFill>
            <a:srgbClr val="2C3E50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029200" y="822960"/>
            <a:ext cx="640080" cy="9875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0" y="822960"/>
            <a:ext cx="6400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760720" y="886968"/>
            <a:ext cx="5989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Built on Infrastructure DCP Already Has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760720" y="1188720"/>
            <a:ext cx="5989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DC3C7"/>
                </a:solidFill>
              </a:rPr>
              <a:t>Power Platform runs on Microsoft 365 — no new vendor, no new procurement cycle, no unfamiliar technology to manage.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29200" y="1938528"/>
            <a:ext cx="6858000" cy="987552"/>
          </a:xfrm>
          <a:prstGeom prst="rect">
            <a:avLst/>
          </a:prstGeom>
          <a:solidFill>
            <a:srgbClr val="2C3E50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029200" y="1938528"/>
            <a:ext cx="640080" cy="9875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0" y="1938528"/>
            <a:ext cx="6400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760720" y="2002536"/>
            <a:ext cx="5989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ROI is Asymmetric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760720" y="2304288"/>
            <a:ext cx="5989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DC3C7"/>
                </a:solidFill>
              </a:rPr>
              <a:t>~₦16M Year 1 total cost against &gt;₦9B in conservative operational savings. The business case does not require optimistic assumptions.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29200" y="3054096"/>
            <a:ext cx="6858000" cy="987552"/>
          </a:xfrm>
          <a:prstGeom prst="rect">
            <a:avLst/>
          </a:prstGeom>
          <a:solidFill>
            <a:srgbClr val="2C3E50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029200" y="3054096"/>
            <a:ext cx="640080" cy="9875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029200" y="3054096"/>
            <a:ext cx="6400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760720" y="3118104"/>
            <a:ext cx="5989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Directly Addresses the Brief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760720" y="3419856"/>
            <a:ext cx="5989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DC3C7"/>
                </a:solidFill>
              </a:rPr>
              <a:t>Every challenge deliverable is met: KPI data model, validation rule library, exception dashboard, and plant sign-off + escalation process.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029200" y="4169664"/>
            <a:ext cx="6858000" cy="987552"/>
          </a:xfrm>
          <a:prstGeom prst="rect">
            <a:avLst/>
          </a:prstGeom>
          <a:solidFill>
            <a:srgbClr val="2C3E50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029200" y="4169664"/>
            <a:ext cx="640080" cy="9875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029200" y="4169664"/>
            <a:ext cx="6400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760720" y="4233672"/>
            <a:ext cx="5989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Designed for Scale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760720" y="4535424"/>
            <a:ext cx="5989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DC3C7"/>
                </a:solidFill>
              </a:rPr>
              <a:t>Star schema data model, Dataverse validated store, and Power BI RLS architecture scale from 4 plants today to any future expansion.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029200" y="5285232"/>
            <a:ext cx="6858000" cy="987552"/>
          </a:xfrm>
          <a:prstGeom prst="rect">
            <a:avLst/>
          </a:prstGeom>
          <a:solidFill>
            <a:srgbClr val="2C3E50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029200" y="5285232"/>
            <a:ext cx="640080" cy="9875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029200" y="5285232"/>
            <a:ext cx="6400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760720" y="5349240"/>
            <a:ext cx="5989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Pilot First — Prove Before Scaling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760720" y="5650992"/>
            <a:ext cx="5989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DC3C7"/>
                </a:solidFill>
              </a:rPr>
              <a:t>30-day Obajana pilot de-risks the investment and produces a working proof-of-concept before committing to full four-plant deployment.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029200" y="6492240"/>
            <a:ext cx="6858000" cy="27432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029200" y="64922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Approve the Obajana 30-Day Pilot  →  Validate Results  →  Scale to All Four Plants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2061</Words>
  <Application>Microsoft Office PowerPoint</Application>
  <PresentationFormat>Widescreen</PresentationFormat>
  <Paragraphs>302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DCP Digital KPI Automation — Challenge 4</dc:title>
  <dc:subject>PptxGenJS Presentation</dc:subject>
  <dc:creator>Innovation Challenge Submission</dc:creator>
  <cp:lastModifiedBy>Erioluwa Akinfisoye</cp:lastModifiedBy>
  <cp:revision>5</cp:revision>
  <dcterms:created xsi:type="dcterms:W3CDTF">2026-07-06T10:27:18Z</dcterms:created>
  <dcterms:modified xsi:type="dcterms:W3CDTF">2026-07-30T00:46:05Z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2026-07-09T20:42:08Z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06aa234b-7c92-414e-9de0-6bff9bdac3f9</vt:lpwstr>
  </property>
  <property fmtid="{D5CDD505-2E9C-101B-9397-08002B2CF9AE}" pid="7" name="MSIP_Label_defa4170-0d19-0005-0004-bc88714345d2_ActionId">
    <vt:lpwstr>24783731-3d8a-42b3-b51f-a7f8e99843c2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