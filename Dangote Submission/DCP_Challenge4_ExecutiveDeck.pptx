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31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70123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by acknowledging DCP's ambition for operational excellence. Frame this as infrastructure for performance improvement, not just a reporting tool. The four plants represent Nigeria's largest cement capacity.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each pain point to operational reality. Manual reporting at Dangote's scale — 17.7Mt Nigeria volumes in 2025 — creates compounding risk. Each point maps directly to a challenge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financial figures come directly from Dangote Cement's 2025 full-year results presentation. These numbers anchor our business case — our KPIs directly drive the cost lines that determine EBITDA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sets up the 'why' behind our solution. Three root causes map directly to three solution components: Power Apps (standardised entry), Power Automate (validation + governance), Power BI (visibility).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hero slide. Walk through the architecture left to right — data enters via Power Apps, lands in SharePoint, Power Automate validates and routes for approval, clean data moves to Dataverse, Power BI serves role-filtered dashboards. Every component addresses a root cause from Slide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this is deployable within DCP's existing Microsoft ecosystem. The only incremental cost is Dataverse premium licences, and those are limited to the reporting/admin tier only — not every plant operator.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EBITDA bridge — judges want to see commercial understanding. The ROI is overwhelming: ~₦9B+ in conservative savings against ₦16M implementation cost. Keep cost estimates conservative and note they are indicative.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skip the sustainability angle — Dangote's TSR programme is a stated executive priority from the 2025 results. Linking our KPI system to their alternative fuel targets shows strategic awareness beyond just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Phase 1 as a 30-day sprint to prove value at Obajana before committing to full rollout. This de-risks the investment and gives DCP a real proof-of-concept they can evaluate before Phase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confidence. The recommendation is clear, the ROI is compelling, and the risk is low because you're proposing a pilot — not a full commitment. Pause after each of the five reasons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320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kern="0" spc="600" dirty="0">
                <a:solidFill>
                  <a:srgbClr val="FFFFFF"/>
                </a:solidFill>
              </a:rPr>
              <a:t>DANGOTE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868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400" dirty="0">
                <a:solidFill>
                  <a:srgbClr val="FFFFFF"/>
                </a:solidFill>
              </a:rPr>
              <a:t>CEMENT PLC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298448"/>
            <a:ext cx="3291840" cy="0"/>
          </a:xfrm>
          <a:prstGeom prst="line">
            <a:avLst/>
          </a:prstGeom>
          <a:noFill/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463040"/>
            <a:ext cx="1371600" cy="292608"/>
          </a:xfrm>
          <a:prstGeom prst="rect">
            <a:avLst/>
          </a:prstGeom>
          <a:solidFill>
            <a:srgbClr val="922B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1463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CHALLENGE 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92024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Digital KPI</a:t>
            </a:r>
            <a:endParaRPr lang="en-US" sz="3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Automation &amp;</a:t>
            </a:r>
            <a:endParaRPr lang="en-US" sz="3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Data Quality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74320" y="41148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</a:rPr>
              <a:t>A Power Platform Solution for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</a:rPr>
              <a:t>Obajana · Ibese · Gboko · Okpella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62179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</a:rPr>
              <a:t>Dangote Industries Innovation Challenge  |  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97680" y="16459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FFFFFF"/>
                </a:solidFill>
              </a:rPr>
              <a:t>Transforming Manual Plant Reporting</a:t>
            </a:r>
            <a:endParaRPr lang="en-US" sz="2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FFFFFF"/>
                </a:solidFill>
              </a:rPr>
              <a:t>into a Governed Digital System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297680" y="2880360"/>
            <a:ext cx="731520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297680" y="3108960"/>
            <a:ext cx="1691640" cy="1280160"/>
          </a:xfrm>
          <a:prstGeom prst="rect">
            <a:avLst/>
          </a:prstGeom>
          <a:solidFill>
            <a:srgbClr val="2C3E50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297680" y="32004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0392B"/>
                </a:solidFill>
              </a:rPr>
              <a:t>15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297680" y="37947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DC3C7"/>
                </a:solidFill>
              </a:rPr>
              <a:t>Core KPIs Tracked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72200" y="3108960"/>
            <a:ext cx="1691640" cy="1280160"/>
          </a:xfrm>
          <a:prstGeom prst="rect">
            <a:avLst/>
          </a:prstGeom>
          <a:solidFill>
            <a:srgbClr val="2C3E50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72200" y="32004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0392B"/>
                </a:solidFill>
              </a:rPr>
              <a:t>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172200" y="37947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DC3C7"/>
                </a:solidFill>
              </a:rPr>
              <a:t>Plants Connected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046720" y="3108960"/>
            <a:ext cx="1691640" cy="1280160"/>
          </a:xfrm>
          <a:prstGeom prst="rect">
            <a:avLst/>
          </a:prstGeom>
          <a:solidFill>
            <a:srgbClr val="2C3E50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046720" y="32004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0392B"/>
                </a:solidFill>
              </a:rPr>
              <a:t>5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8046720" y="37947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DC3C7"/>
                </a:solidFill>
              </a:rPr>
              <a:t>User Roles &amp; RLS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921240" y="3108960"/>
            <a:ext cx="1691640" cy="1280160"/>
          </a:xfrm>
          <a:prstGeom prst="rect">
            <a:avLst/>
          </a:prstGeom>
          <a:solidFill>
            <a:srgbClr val="2C3E50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921240" y="32004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0392B"/>
                </a:solidFill>
              </a:rPr>
              <a:t>100%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921240" y="37947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DC3C7"/>
                </a:solidFill>
              </a:rPr>
              <a:t>Digital Reporting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297680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DC3C7"/>
                </a:solidFill>
              </a:rPr>
              <a:t>Solution Stack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97680" y="5029200"/>
            <a:ext cx="2286000" cy="347472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297680" y="5029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Power Apps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66560" y="5029200"/>
            <a:ext cx="2286000" cy="347472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766560" y="5029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Power Automate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235440" y="5029200"/>
            <a:ext cx="2286000" cy="347472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9235440" y="5029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SharePoint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7680" y="5532120"/>
            <a:ext cx="2286000" cy="347472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297680" y="55321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Dataverse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766560" y="5532120"/>
            <a:ext cx="2286000" cy="347472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766560" y="55321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Power BI + RLS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65760" y="256032"/>
            <a:ext cx="1280160" cy="256032"/>
          </a:xfrm>
          <a:prstGeom prst="roundRect">
            <a:avLst>
              <a:gd name="adj" fmla="val 1785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SLIDE 02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920240" y="16459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Current-State Problem Diagnosis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65760" y="1051560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C3E50"/>
                </a:solidFill>
              </a:rPr>
              <a:t>DCP's plant performance reporting across four sites depends entirely on manual processes — creating systemic risks that scale with the business.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691640"/>
            <a:ext cx="361188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457200" cy="457200"/>
          </a:xfrm>
          <a:prstGeom prst="lin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15568" y="189280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Reporting Delays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37744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E50"/>
                </a:solidFill>
              </a:rPr>
              <a:t>Data submitted after decision windows close, forcing management to act on yesterday's numbers.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78808" y="1691640"/>
            <a:ext cx="361188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361688" y="1874520"/>
            <a:ext cx="457200" cy="457200"/>
          </a:xfrm>
          <a:prstGeom prst="line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28616" y="189280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Inconsistent Templates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61688" y="237744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E50"/>
                </a:solidFill>
              </a:rPr>
              <a:t>Each plant uses its own format — cross-plant comparison is manual, error-prone, and time-consuming.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991856" y="1691640"/>
            <a:ext cx="361188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174736" y="1874520"/>
            <a:ext cx="457200" cy="457200"/>
          </a:xfrm>
          <a:prstGeom prst="lin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741664" y="189280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Missing Numbers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74736" y="237744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E50"/>
                </a:solidFill>
              </a:rPr>
              <a:t>No enforcement on required fields. KPI gaps appear in reports after the fact with no audit trail.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3703320"/>
            <a:ext cx="361188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48640" y="3886200"/>
            <a:ext cx="457200" cy="457200"/>
          </a:xfrm>
          <a:prstGeom prst="lin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115568" y="39044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No Validation Layer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438912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E50"/>
                </a:solidFill>
              </a:rPr>
              <a:t>Implausible values (zero clinker output, negative downtime) pass through unchecked into dashboards.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178808" y="3703320"/>
            <a:ext cx="361188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361688" y="3886200"/>
            <a:ext cx="457200" cy="457200"/>
          </a:xfrm>
          <a:prstGeom prst="line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928616" y="39044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Weak Traceability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361688" y="438912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E50"/>
                </a:solidFill>
              </a:rPr>
              <a:t>Who submitted? Who approved? When? These questions cannot be answered reliably under the current system.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991856" y="3703320"/>
            <a:ext cx="361188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174736" y="3886200"/>
            <a:ext cx="457200" cy="457200"/>
          </a:xfrm>
          <a:prstGeom prst="line">
            <a:avLst/>
          </a:prstGeom>
          <a:solidFill>
            <a:srgbClr val="8E44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741664" y="39044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Poor Exception Visibility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174736" y="438912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E50"/>
                </a:solidFill>
              </a:rPr>
              <a:t>Management learns of production issues through verbal escalation — not through live exception alerts.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5943600"/>
            <a:ext cx="11430000" cy="59436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57200" y="594360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</a:rPr>
              <a:t>These are not isolated incidents — they are structural failures of a manual system operating at 35+ Mta scale across four geographically distributed plants.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65760" y="256032"/>
            <a:ext cx="1280160" cy="256032"/>
          </a:xfrm>
          <a:prstGeom prst="roundRect">
            <a:avLst>
              <a:gd name="adj" fmla="val 1785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SLIDE 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920240" y="16459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 Insights &amp; Key Assumptions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65760" y="1051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</a:rPr>
              <a:t>15 Core KPIs Across 4 Categories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54864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09728" cy="77724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66928" y="15727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80B9"/>
                </a:solidFill>
              </a:rPr>
              <a:t>5 KPIs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63040" y="1554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Production &amp; Throughput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63040" y="18288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66573"/>
                </a:solidFill>
              </a:rPr>
              <a:t>Clinker Vol · Cement Vol · Kiln Util · OEE · Clinker Factor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65760" y="2423160"/>
            <a:ext cx="54864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2423160"/>
            <a:ext cx="109728" cy="77724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24871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A085"/>
                </a:solidFill>
              </a:rPr>
              <a:t>3 KPIs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63040" y="2468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Energy &amp; Utilities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463040" y="27432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66573"/>
                </a:solidFill>
              </a:rPr>
              <a:t>Specific Heat · Specific Power · Thermal Substitution Rate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" y="3337560"/>
            <a:ext cx="54864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3337560"/>
            <a:ext cx="109728" cy="7772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66928" y="34015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 KPIs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463040" y="33832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Quality &amp; Compliance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463040" y="36576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66573"/>
                </a:solidFill>
              </a:rPr>
              <a:t>Free Lime · Blaine Fineness · Off-spec Batch Rate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65760" y="4251960"/>
            <a:ext cx="54864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65760" y="4251960"/>
            <a:ext cx="109728" cy="77724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66928" y="43159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7E22"/>
                </a:solidFill>
              </a:rPr>
              <a:t>3 KPIs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463040" y="4297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Maintenance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63040" y="45720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66573"/>
                </a:solidFill>
              </a:rPr>
              <a:t>PM Compliance · MTBF · Maintenance Cost per Tonne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65760" y="5166360"/>
            <a:ext cx="54864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65760" y="5166360"/>
            <a:ext cx="109728" cy="7772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66928" y="5230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 KPI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463040" y="52120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Governance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463040" y="5486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66573"/>
                </a:solidFill>
              </a:rPr>
              <a:t>Submission Timeliness — tracks reporting discipline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92240" y="10515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</a:rPr>
              <a:t>DCP 2025 Financial Anchors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492240" y="1508760"/>
            <a:ext cx="2468880" cy="1234440"/>
          </a:xfrm>
          <a:prstGeom prst="rect">
            <a:avLst/>
          </a:prstGeom>
          <a:solidFill>
            <a:srgbClr val="C0392B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492240" y="1618488"/>
            <a:ext cx="246888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₦681.9B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6492240" y="2224735"/>
            <a:ext cx="2468880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DC3C7"/>
                </a:solidFill>
              </a:rPr>
              <a:t>Fuel &amp; Power Cost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DC3C7"/>
                </a:solidFill>
              </a:rPr>
              <a:t>(2025)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189720" y="1508760"/>
            <a:ext cx="2468880" cy="1234440"/>
          </a:xfrm>
          <a:prstGeom prst="rect">
            <a:avLst/>
          </a:prstGeom>
          <a:solidFill>
            <a:srgbClr val="E67E2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189720" y="1618488"/>
            <a:ext cx="246888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₦165.9B</a:t>
            </a:r>
            <a:endParaRPr lang="en-US" sz="2800" dirty="0"/>
          </a:p>
        </p:txBody>
      </p:sp>
      <p:sp>
        <p:nvSpPr>
          <p:cNvPr id="38" name="Text 36"/>
          <p:cNvSpPr/>
          <p:nvPr/>
        </p:nvSpPr>
        <p:spPr>
          <a:xfrm>
            <a:off x="9189720" y="2224735"/>
            <a:ext cx="2468880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DC3C7"/>
                </a:solidFill>
              </a:rPr>
              <a:t>Plant Maintenance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DC3C7"/>
                </a:solidFill>
              </a:rPr>
              <a:t>Cost (2025)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492240" y="2971800"/>
            <a:ext cx="2468880" cy="1234440"/>
          </a:xfrm>
          <a:prstGeom prst="rect">
            <a:avLst/>
          </a:prstGeom>
          <a:solidFill>
            <a:srgbClr val="27AE60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492240" y="3081528"/>
            <a:ext cx="246888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59.6%</a:t>
            </a:r>
            <a:endParaRPr lang="en-US" sz="2800" dirty="0"/>
          </a:p>
        </p:txBody>
      </p:sp>
      <p:sp>
        <p:nvSpPr>
          <p:cNvPr id="41" name="Text 39"/>
          <p:cNvSpPr/>
          <p:nvPr/>
        </p:nvSpPr>
        <p:spPr>
          <a:xfrm>
            <a:off x="6492240" y="3687775"/>
            <a:ext cx="2468880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DC3C7"/>
                </a:solidFill>
              </a:rPr>
              <a:t>Nigeria EBITDA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DC3C7"/>
                </a:solidFill>
              </a:rPr>
              <a:t>Margin (2025)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189720" y="2971800"/>
            <a:ext cx="2468880" cy="1234440"/>
          </a:xfrm>
          <a:prstGeom prst="rect">
            <a:avLst/>
          </a:prstGeom>
          <a:solidFill>
            <a:srgbClr val="2980B9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9189720" y="3081528"/>
            <a:ext cx="246888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17.7Mt</a:t>
            </a:r>
            <a:endParaRPr lang="en-US" sz="2800" dirty="0"/>
          </a:p>
        </p:txBody>
      </p:sp>
      <p:sp>
        <p:nvSpPr>
          <p:cNvPr id="44" name="Text 42"/>
          <p:cNvSpPr/>
          <p:nvPr/>
        </p:nvSpPr>
        <p:spPr>
          <a:xfrm>
            <a:off x="9189720" y="3687775"/>
            <a:ext cx="2468880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DC3C7"/>
                </a:solidFill>
              </a:rPr>
              <a:t>Nigeria Cement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DC3C7"/>
                </a:solidFill>
              </a:rPr>
              <a:t>Volume (2025)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492240" y="4526280"/>
            <a:ext cx="5303520" cy="1691640"/>
          </a:xfrm>
          <a:prstGeom prst="rect">
            <a:avLst/>
          </a:prstGeom>
          <a:solidFill>
            <a:srgbClr val="F4F6F7"/>
          </a:solidFill>
          <a:ln w="635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629400" y="46177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Key Assumptions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629400" y="4956048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</a:rPr>
              <a:t>DCP operates Microsoft 365 — Power Platform is available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</a:rPr>
              <a:t>Plant operators have basic digital literacy for form entry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</a:rPr>
              <a:t>KPI benchmarks reference cement industry standards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</a:rPr>
              <a:t>Pilot begins at Obajana (highest complexity, 5 lines)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</a:rPr>
              <a:t>Dataverse premium licensing approved for reporting tier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65760" y="256032"/>
            <a:ext cx="1280160" cy="256032"/>
          </a:xfrm>
          <a:prstGeom prst="roundRect">
            <a:avLst>
              <a:gd name="adj" fmla="val 1785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SLIDE 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920240" y="16459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Root-Cause Hypothesis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11430000" cy="91440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0058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</a:rPr>
              <a:t>Root Cause: DCP lacks a single, enforced data entry standard and automated validation layer across its four Nigerian plants — causing downstream reporting failures at every management level.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103120"/>
            <a:ext cx="374904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2103120"/>
            <a:ext cx="3749040" cy="822960"/>
          </a:xfrm>
          <a:prstGeom prst="rect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21488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01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188720" y="2176272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No Standardised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Entry Point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035808"/>
            <a:ext cx="3383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C3E50"/>
                </a:solidFill>
              </a:rPr>
              <a:t>Each plant uses different Excel templates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C3E50"/>
                </a:solidFill>
              </a:rPr>
              <a:t>No mandatory field enforcement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C3E50"/>
                </a:solidFill>
              </a:rPr>
              <a:t>Formatting varies — consolidation is manual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C3E50"/>
                </a:solidFill>
              </a:rPr>
              <a:t>No plant-level timestamp or submitter ID captured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97680" y="2103120"/>
            <a:ext cx="374904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297680" y="2103120"/>
            <a:ext cx="3749040" cy="82296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480560" y="21488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02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5120640" y="2176272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No Automated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Validation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80560" y="3035808"/>
            <a:ext cx="3383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C3E50"/>
                </a:solidFill>
              </a:rPr>
              <a:t>Data goes directly to reports without checks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C3E50"/>
                </a:solidFill>
              </a:rPr>
              <a:t>Out-of-range values pass through undetected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C3E50"/>
                </a:solidFill>
              </a:rPr>
              <a:t>Missing fields only discovered during review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C3E50"/>
                </a:solidFill>
              </a:rPr>
              <a:t>No exception classification or severity tiering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0" y="2103120"/>
            <a:ext cx="374904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229600" y="2103120"/>
            <a:ext cx="3749040" cy="822960"/>
          </a:xfrm>
          <a:prstGeom prst="rect">
            <a:avLst/>
          </a:prstGeom>
          <a:solidFill>
            <a:srgbClr val="8E44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412480" y="21488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03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052560" y="2176272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No Governance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or Accountability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412480" y="3035808"/>
            <a:ext cx="3383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C3E50"/>
                </a:solidFill>
              </a:rPr>
              <a:t>No formal sign-off or approval workflow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C3E50"/>
                </a:solidFill>
              </a:rPr>
              <a:t>Escalation is verbal — not documented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C3E50"/>
                </a:solidFill>
              </a:rPr>
              <a:t>No audit trail of submissions or changes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C3E50"/>
                </a:solidFill>
              </a:rPr>
              <a:t>Timeliness is tracked manually (or not at all)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5760" y="6126480"/>
            <a:ext cx="11430000" cy="438912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612648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No Standard Entry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691640" y="612648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0392B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926080" y="612648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No Validation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160520" y="612648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0392B"/>
                </a:solidFill>
              </a:rPr>
              <a:t>→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394960" y="612648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No Accountability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29400" y="612648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0392B"/>
                </a:solidFill>
              </a:rPr>
              <a:t>→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863840" y="612648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Unreliable KPI Data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098280" y="612648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0392B"/>
                </a:solidFill>
              </a:rPr>
              <a:t>→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332720" y="612648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Poor Management Decisions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1280160" cy="256032"/>
          </a:xfrm>
          <a:prstGeom prst="roundRect">
            <a:avLst>
              <a:gd name="adj" fmla="val 1785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560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SLIDE 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920240" y="13716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Proposed Solution — DCP Digital KPI Reporting System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11430000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1920240" cy="1417320"/>
          </a:xfrm>
          <a:prstGeom prst="rect">
            <a:avLst/>
          </a:prstGeom>
          <a:solidFill>
            <a:srgbClr val="2980B9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033272"/>
            <a:ext cx="192024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DATA ENTRY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8940" y="1751075"/>
            <a:ext cx="1920240" cy="623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DC3C7"/>
                </a:solidFill>
              </a:rPr>
              <a:t>Power Apps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BDC3C7"/>
                </a:solidFill>
              </a:rPr>
              <a:t>Canvas Form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286000" y="1664208"/>
            <a:ext cx="5029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0" y="960120"/>
            <a:ext cx="1920240" cy="1417320"/>
          </a:xfrm>
          <a:prstGeom prst="rect">
            <a:avLst/>
          </a:prstGeom>
          <a:solidFill>
            <a:srgbClr val="16A085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846070" y="1335024"/>
            <a:ext cx="1760220" cy="48005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TIER 1 STORE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73681" y="1829334"/>
            <a:ext cx="1920240" cy="623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DC3C7"/>
                </a:solidFill>
              </a:rPr>
              <a:t>SharePoint Lists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BDC3C7"/>
                </a:solidFill>
              </a:rPr>
              <a:t>(Raw Submissions)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1657096"/>
            <a:ext cx="5029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120640" y="960120"/>
            <a:ext cx="1920240" cy="1417320"/>
          </a:xfrm>
          <a:prstGeom prst="rect">
            <a:avLst/>
          </a:prstGeom>
          <a:solidFill>
            <a:srgbClr val="C0392B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257800" y="1402563"/>
            <a:ext cx="1600200" cy="4318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AUTOMATION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66360" y="1831290"/>
            <a:ext cx="1737360" cy="4837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DC3C7"/>
                </a:solidFill>
              </a:rPr>
              <a:t>Power Automate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BDC3C7"/>
                </a:solidFill>
              </a:rPr>
              <a:t>Validate · Sign-off · Escalate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040880" y="1657096"/>
            <a:ext cx="5029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498080" y="960120"/>
            <a:ext cx="1920240" cy="1417320"/>
          </a:xfrm>
          <a:prstGeom prst="rect">
            <a:avLst/>
          </a:prstGeom>
          <a:solidFill>
            <a:srgbClr val="8E44AD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635240" y="1360627"/>
            <a:ext cx="155448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TIER 2 STORE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493000" y="1809597"/>
            <a:ext cx="1838960" cy="5065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DC3C7"/>
                </a:solidFill>
              </a:rPr>
              <a:t>Dataverse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BDC3C7"/>
                </a:solidFill>
              </a:rPr>
              <a:t>(Validated &amp; Approved)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372600" y="1662176"/>
            <a:ext cx="5029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9875520" y="996696"/>
            <a:ext cx="1920240" cy="1389888"/>
          </a:xfrm>
          <a:prstGeom prst="rect">
            <a:avLst/>
          </a:prstGeom>
          <a:solidFill>
            <a:srgbClr val="27AE60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0093960" y="1537106"/>
            <a:ext cx="1483360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REPORTING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875520" y="1758391"/>
            <a:ext cx="1920240" cy="623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DC3C7"/>
                </a:solidFill>
              </a:rPr>
              <a:t>Power BI + RLS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BDC3C7"/>
                </a:solidFill>
              </a:rPr>
              <a:t>Role-Based Dashboards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" y="25146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DC3C7"/>
                </a:solidFill>
              </a:rPr>
              <a:t>ALL 4 PLANTS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73760" y="2971422"/>
            <a:ext cx="975360" cy="274320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017143" y="3010746"/>
            <a:ext cx="701294" cy="211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Obajana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73760" y="3346535"/>
            <a:ext cx="975360" cy="307164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873760" y="3331709"/>
            <a:ext cx="975360" cy="3380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Ibese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86460" y="3835843"/>
            <a:ext cx="962660" cy="224093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886460" y="3835843"/>
            <a:ext cx="962660" cy="224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</a:rPr>
              <a:t>Gboko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86460" y="4210699"/>
            <a:ext cx="962660" cy="273053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1" name="Text 39"/>
          <p:cNvSpPr/>
          <p:nvPr/>
        </p:nvSpPr>
        <p:spPr>
          <a:xfrm>
            <a:off x="1154176" y="4191144"/>
            <a:ext cx="429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 err="1">
                <a:solidFill>
                  <a:srgbClr val="FFFFFF"/>
                </a:solidFill>
              </a:rPr>
              <a:t>Okpella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097780" y="2483103"/>
            <a:ext cx="1920240" cy="2533217"/>
          </a:xfrm>
          <a:prstGeom prst="rect">
            <a:avLst/>
          </a:prstGeom>
          <a:solidFill>
            <a:srgbClr val="2C3E50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1D8B0838-49F8-D636-37F7-5080F96ACFD9}"/>
              </a:ext>
            </a:extLst>
          </p:cNvPr>
          <p:cNvGrpSpPr/>
          <p:nvPr/>
        </p:nvGrpSpPr>
        <p:grpSpPr>
          <a:xfrm>
            <a:off x="5227320" y="2465147"/>
            <a:ext cx="1737360" cy="2512237"/>
            <a:chOff x="4572000" y="2587752"/>
            <a:chExt cx="1737360" cy="2606040"/>
          </a:xfrm>
        </p:grpSpPr>
        <p:sp>
          <p:nvSpPr>
            <p:cNvPr id="43" name="Text 41"/>
            <p:cNvSpPr/>
            <p:nvPr/>
          </p:nvSpPr>
          <p:spPr>
            <a:xfrm>
              <a:off x="4572000" y="2587752"/>
              <a:ext cx="17373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C0392B"/>
                  </a:solidFill>
                </a:rPr>
                <a:t>Automation Logic</a:t>
              </a:r>
              <a:endParaRPr lang="en-US" sz="1050" dirty="0"/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79FC5AF3-8A76-52E6-D00B-9A2794F002F3}"/>
                </a:ext>
              </a:extLst>
            </p:cNvPr>
            <p:cNvGrpSpPr/>
            <p:nvPr/>
          </p:nvGrpSpPr>
          <p:grpSpPr>
            <a:xfrm>
              <a:off x="4572000" y="2907792"/>
              <a:ext cx="1737360" cy="2286000"/>
              <a:chOff x="4572000" y="2907792"/>
              <a:chExt cx="1737360" cy="2286000"/>
            </a:xfrm>
          </p:grpSpPr>
          <p:sp>
            <p:nvSpPr>
              <p:cNvPr id="44" name="Text 42"/>
              <p:cNvSpPr/>
              <p:nvPr/>
            </p:nvSpPr>
            <p:spPr>
              <a:xfrm>
                <a:off x="4572000" y="2907792"/>
                <a:ext cx="1737360" cy="23774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900" dirty="0">
                    <a:solidFill>
                      <a:srgbClr val="BDC3C7"/>
                    </a:solidFill>
                  </a:rPr>
                  <a:t>✓  Completeness check</a:t>
                </a:r>
                <a:endParaRPr lang="en-US" sz="900" dirty="0"/>
              </a:p>
            </p:txBody>
          </p:sp>
          <p:sp>
            <p:nvSpPr>
              <p:cNvPr id="45" name="Text 43"/>
              <p:cNvSpPr/>
              <p:nvPr/>
            </p:nvSpPr>
            <p:spPr>
              <a:xfrm>
                <a:off x="4572000" y="3163824"/>
                <a:ext cx="1737360" cy="23774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900" dirty="0">
                    <a:solidFill>
                      <a:srgbClr val="BDC3C7"/>
                    </a:solidFill>
                  </a:rPr>
                  <a:t>✓  Range validation</a:t>
                </a:r>
                <a:endParaRPr lang="en-US" sz="900" dirty="0"/>
              </a:p>
            </p:txBody>
          </p:sp>
          <p:sp>
            <p:nvSpPr>
              <p:cNvPr id="46" name="Text 44"/>
              <p:cNvSpPr/>
              <p:nvPr/>
            </p:nvSpPr>
            <p:spPr>
              <a:xfrm>
                <a:off x="4572000" y="3419856"/>
                <a:ext cx="1737360" cy="23774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900" dirty="0">
                    <a:solidFill>
                      <a:srgbClr val="BDC3C7"/>
                    </a:solidFill>
                  </a:rPr>
                  <a:t>✓  NCR flag (quality breach)</a:t>
                </a:r>
                <a:endParaRPr lang="en-US" sz="900" dirty="0"/>
              </a:p>
            </p:txBody>
          </p:sp>
          <p:sp>
            <p:nvSpPr>
              <p:cNvPr id="47" name="Text 45"/>
              <p:cNvSpPr/>
              <p:nvPr/>
            </p:nvSpPr>
            <p:spPr>
              <a:xfrm>
                <a:off x="4572000" y="3675888"/>
                <a:ext cx="1737360" cy="23774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900" dirty="0">
                    <a:solidFill>
                      <a:srgbClr val="BDC3C7"/>
                    </a:solidFill>
                  </a:rPr>
                  <a:t>✓  Manager sign-off routing</a:t>
                </a:r>
                <a:endParaRPr lang="en-US" sz="900" dirty="0"/>
              </a:p>
            </p:txBody>
          </p:sp>
          <p:sp>
            <p:nvSpPr>
              <p:cNvPr id="48" name="Text 46"/>
              <p:cNvSpPr/>
              <p:nvPr/>
            </p:nvSpPr>
            <p:spPr>
              <a:xfrm>
                <a:off x="4572000" y="3931920"/>
                <a:ext cx="1737360" cy="23774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900" dirty="0">
                    <a:solidFill>
                      <a:srgbClr val="BDC3C7"/>
                    </a:solidFill>
                  </a:rPr>
                  <a:t>✓  Delegation handling</a:t>
                </a:r>
                <a:endParaRPr lang="en-US" sz="900" dirty="0"/>
              </a:p>
            </p:txBody>
          </p:sp>
          <p:sp>
            <p:nvSpPr>
              <p:cNvPr id="49" name="Text 47"/>
              <p:cNvSpPr/>
              <p:nvPr/>
            </p:nvSpPr>
            <p:spPr>
              <a:xfrm>
                <a:off x="4572000" y="4187952"/>
                <a:ext cx="1737360" cy="23774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900" dirty="0">
                    <a:solidFill>
                      <a:srgbClr val="BDC3C7"/>
                    </a:solidFill>
                  </a:rPr>
                  <a:t>✓  T+12h reminder</a:t>
                </a:r>
                <a:endParaRPr lang="en-US" sz="900" dirty="0"/>
              </a:p>
            </p:txBody>
          </p:sp>
          <p:sp>
            <p:nvSpPr>
              <p:cNvPr id="50" name="Text 48"/>
              <p:cNvSpPr/>
              <p:nvPr/>
            </p:nvSpPr>
            <p:spPr>
              <a:xfrm>
                <a:off x="4572000" y="4443984"/>
                <a:ext cx="1737360" cy="23774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900" dirty="0">
                    <a:solidFill>
                      <a:srgbClr val="BDC3C7"/>
                    </a:solidFill>
                  </a:rPr>
                  <a:t>✓  T+24h Level 1 escalation</a:t>
                </a:r>
                <a:endParaRPr lang="en-US" sz="900" dirty="0"/>
              </a:p>
            </p:txBody>
          </p:sp>
          <p:sp>
            <p:nvSpPr>
              <p:cNvPr id="51" name="Text 49"/>
              <p:cNvSpPr/>
              <p:nvPr/>
            </p:nvSpPr>
            <p:spPr>
              <a:xfrm>
                <a:off x="4572000" y="4700016"/>
                <a:ext cx="1737360" cy="23774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900" dirty="0">
                    <a:solidFill>
                      <a:srgbClr val="BDC3C7"/>
                    </a:solidFill>
                  </a:rPr>
                  <a:t>✓  T+48h Level 2 escalation</a:t>
                </a:r>
                <a:endParaRPr lang="en-US" sz="900" dirty="0"/>
              </a:p>
            </p:txBody>
          </p:sp>
          <p:sp>
            <p:nvSpPr>
              <p:cNvPr id="52" name="Text 50"/>
              <p:cNvSpPr/>
              <p:nvPr/>
            </p:nvSpPr>
            <p:spPr>
              <a:xfrm>
                <a:off x="4572000" y="4956048"/>
                <a:ext cx="1737360" cy="23774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900" dirty="0">
                    <a:solidFill>
                      <a:srgbClr val="BDC3C7"/>
                    </a:solidFill>
                  </a:rPr>
                  <a:t>✓  Dataverse promotion</a:t>
                </a:r>
                <a:endParaRPr lang="en-US" sz="900" dirty="0"/>
              </a:p>
            </p:txBody>
          </p:sp>
        </p:grpSp>
      </p:grpSp>
      <p:sp>
        <p:nvSpPr>
          <p:cNvPr id="53" name="Shape 51"/>
          <p:cNvSpPr/>
          <p:nvPr/>
        </p:nvSpPr>
        <p:spPr>
          <a:xfrm>
            <a:off x="9906000" y="2482798"/>
            <a:ext cx="1920240" cy="2546402"/>
          </a:xfrm>
          <a:prstGeom prst="rect">
            <a:avLst/>
          </a:prstGeom>
          <a:solidFill>
            <a:srgbClr val="2C3E50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7B02D25D-A7A1-206B-86A4-64EBC28FEC72}"/>
              </a:ext>
            </a:extLst>
          </p:cNvPr>
          <p:cNvGrpSpPr/>
          <p:nvPr/>
        </p:nvGrpSpPr>
        <p:grpSpPr>
          <a:xfrm>
            <a:off x="10012680" y="2474123"/>
            <a:ext cx="1645920" cy="2551176"/>
            <a:chOff x="8732520" y="2587752"/>
            <a:chExt cx="2926080" cy="2551176"/>
          </a:xfrm>
        </p:grpSpPr>
        <p:sp>
          <p:nvSpPr>
            <p:cNvPr id="54" name="Text 52"/>
            <p:cNvSpPr/>
            <p:nvPr/>
          </p:nvSpPr>
          <p:spPr>
            <a:xfrm>
              <a:off x="8732520" y="2587752"/>
              <a:ext cx="2926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27AE60"/>
                  </a:solidFill>
                </a:rPr>
                <a:t>Role-Based Access (RLS)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732520" y="2907792"/>
              <a:ext cx="2469106" cy="1855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dirty="0">
                  <a:solidFill>
                    <a:srgbClr val="FFFFFF"/>
                  </a:solidFill>
                </a:rPr>
                <a:t>Plant Operator</a:t>
              </a:r>
              <a:endParaRPr lang="en-US" sz="900" dirty="0"/>
            </a:p>
          </p:txBody>
        </p:sp>
        <p:sp>
          <p:nvSpPr>
            <p:cNvPr id="56" name="Text 54"/>
            <p:cNvSpPr/>
            <p:nvPr/>
          </p:nvSpPr>
          <p:spPr>
            <a:xfrm>
              <a:off x="8732520" y="3108960"/>
              <a:ext cx="292608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BDC3C7"/>
                  </a:solidFill>
                </a:rPr>
                <a:t>Entry form · Submission status</a:t>
              </a:r>
              <a:endParaRPr lang="en-US" sz="9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8732520" y="3364991"/>
              <a:ext cx="2320996" cy="24147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dirty="0">
                  <a:solidFill>
                    <a:srgbClr val="FFFFFF"/>
                  </a:solidFill>
                </a:rPr>
                <a:t>Plant Manager</a:t>
              </a:r>
              <a:endParaRPr lang="en-US" sz="9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8732520" y="3566160"/>
              <a:ext cx="292608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BDC3C7"/>
                  </a:solidFill>
                </a:rPr>
                <a:t>All 15 KPIs · Approval queue</a:t>
              </a:r>
              <a:endParaRPr lang="en-US" sz="9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8732520" y="3822192"/>
              <a:ext cx="2469106" cy="1672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dirty="0">
                  <a:solidFill>
                    <a:srgbClr val="FFFFFF"/>
                  </a:solidFill>
                </a:rPr>
                <a:t>Data Quality Officer</a:t>
              </a:r>
              <a:endParaRPr lang="en-US" sz="9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8732520" y="4023360"/>
              <a:ext cx="292608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BDC3C7"/>
                  </a:solidFill>
                </a:rPr>
                <a:t>All KPIs · Exception flags</a:t>
              </a:r>
              <a:endParaRPr lang="en-US" sz="9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8732520" y="4279391"/>
              <a:ext cx="2736427" cy="2369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dirty="0">
                  <a:solidFill>
                    <a:srgbClr val="FFFFFF"/>
                  </a:solidFill>
                </a:rPr>
                <a:t>Regional Manager</a:t>
              </a:r>
              <a:endParaRPr lang="en-US" sz="9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732520" y="4480560"/>
              <a:ext cx="292608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BDC3C7"/>
                  </a:solidFill>
                </a:rPr>
                <a:t>Cross-plant operational view</a:t>
              </a:r>
              <a:endParaRPr lang="en-US" sz="9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8732520" y="4736592"/>
              <a:ext cx="2736427" cy="1882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dirty="0">
                  <a:solidFill>
                    <a:srgbClr val="FFFFFF"/>
                  </a:solidFill>
                </a:rPr>
                <a:t>Executive</a:t>
              </a:r>
              <a:endParaRPr lang="en-US" sz="9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8732520" y="4937760"/>
              <a:ext cx="292608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BDC3C7"/>
                  </a:solidFill>
                </a:rPr>
                <a:t>Strategic KPIs · Governance</a:t>
              </a:r>
              <a:endParaRPr lang="en-US" sz="900" dirty="0"/>
            </a:p>
          </p:txBody>
        </p:sp>
      </p:grpSp>
      <p:sp>
        <p:nvSpPr>
          <p:cNvPr id="65" name="Shape 63"/>
          <p:cNvSpPr/>
          <p:nvPr/>
        </p:nvSpPr>
        <p:spPr>
          <a:xfrm>
            <a:off x="365760" y="5138928"/>
            <a:ext cx="11430000" cy="1417320"/>
          </a:xfrm>
          <a:prstGeom prst="rect">
            <a:avLst/>
          </a:prstGeom>
          <a:solidFill>
            <a:srgbClr val="2C3E50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548640" y="5230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9C12"/>
                </a:solidFill>
              </a:rPr>
              <a:t>Data Model — Star Schema (11 Tables)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577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DC3C7"/>
                </a:solidFill>
              </a:rPr>
              <a:t>Dimension Tables: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48640" y="580644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DIM_Plant  ·  DIM_KilnLine  ·  DIM_User  ·  DIM_Role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7589520" y="527964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DC3C7"/>
                </a:solidFill>
              </a:rPr>
              <a:t>Fact Tables: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7589520" y="56921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FACT_DailySubmission  ·  FACT_ProductionInput  ·  FACT_EnergyInput  ·  FACT_QualityInput  ·  FACT_MaintenanceInput  ·  FACT_ValidationLog  ·  FACT_SubmissionTimeliness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548640" y="61081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</a:rPr>
              <a:t>SharePoint (Tier 1 Entry)  →  Dataverse (Tier 2 Validated Store)  →  Power BI (Single Source of Truth)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65760" y="256032"/>
            <a:ext cx="1280160" cy="256032"/>
          </a:xfrm>
          <a:prstGeom prst="roundRect">
            <a:avLst>
              <a:gd name="adj" fmla="val 1785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SLIDE 06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920240" y="16459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Technical Feasibility &amp; Operating Concept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65760" y="10515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</a:rPr>
              <a:t>Daily Operating Cycle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463040"/>
            <a:ext cx="53035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457200" cy="457200"/>
          </a:xfrm>
          <a:prstGeom prst="line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15544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Operator Submits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51560" y="187452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C3E50"/>
                </a:solidFill>
              </a:rPr>
              <a:t>Plant operator opens Power Apps form on any device. Enters raw inputs for production, energy, quality, and maintenance. System captures Plant ID, timestamp, and user ID automatically.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697480"/>
            <a:ext cx="53035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2770632"/>
            <a:ext cx="457200" cy="457200"/>
          </a:xfrm>
          <a:prstGeom prst="line">
            <a:avLst/>
          </a:prstGeom>
          <a:solidFill>
            <a:srgbClr val="16A08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2770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2788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Auto-Validation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51560" y="310896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C3E50"/>
                </a:solidFill>
              </a:rPr>
              <a:t>Power Automate runs completeness and range checks instantly. Flags exceptions with severity levels (Warning, Critical, Blocker). Quality breaches generate Non-Conformance Records routed to the Data Quality Officer.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" y="3931920"/>
            <a:ext cx="53035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4005072"/>
            <a:ext cx="457200" cy="457200"/>
          </a:xfrm>
          <a:prstGeom prst="line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51560" y="40233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Manager Sign-Off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51560" y="434340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C3E50"/>
                </a:solidFill>
              </a:rPr>
              <a:t>Plant Manager receives Teams + Email approval request. Must approve within 24 hours. Reminder at T+12h, escalation to Regional Manager at T+24h, Executive at T+48h.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65760" y="5166360"/>
            <a:ext cx="53035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7200" y="5239512"/>
            <a:ext cx="457200" cy="457200"/>
          </a:xfrm>
          <a:prstGeom prst="lin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5239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51560" y="5257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Dataverse Promotion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51560" y="557784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C3E50"/>
                </a:solidFill>
              </a:rPr>
              <a:t>Approved submissions are automatically pushed from SharePoint (Tier 1) to Dataverse (Tier 2). Power BI refreshes. All four plant dashboards update simultaneously.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40080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</a:rPr>
              <a:t>Why Power Platform is Feasible for DCP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00800" y="1481328"/>
            <a:ext cx="54864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510528" y="1572768"/>
            <a:ext cx="329184" cy="329184"/>
          </a:xfrm>
          <a:prstGeom prst="lin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510528" y="1572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49440" y="15544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Microsoft 365 already deployed at DCP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49440" y="181051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66573"/>
                </a:solidFill>
              </a:rPr>
              <a:t>No new licensing required for entry tier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400800" y="2304288"/>
            <a:ext cx="54864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510528" y="2395728"/>
            <a:ext cx="329184" cy="329184"/>
          </a:xfrm>
          <a:prstGeom prst="lin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510528" y="2395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49440" y="23774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Power Apps runs on any browser or mobile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49440" y="263347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66573"/>
                </a:solidFill>
              </a:rPr>
              <a:t>No hardware investment at plant level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0" y="3127248"/>
            <a:ext cx="54864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6510528" y="3218688"/>
            <a:ext cx="329184" cy="329184"/>
          </a:xfrm>
          <a:prstGeom prst="lin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510528" y="3218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949440" y="32004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SharePoint included in M365 subscription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949440" y="34564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66573"/>
                </a:solidFill>
              </a:rPr>
              <a:t>Tier 1 storage at zero incremental cost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400800" y="3950208"/>
            <a:ext cx="54864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510528" y="4041648"/>
            <a:ext cx="329184" cy="329184"/>
          </a:xfrm>
          <a:prstGeom prst="lin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510528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949440" y="40233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Power Automate handles approval routing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949440" y="42793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66573"/>
                </a:solidFill>
              </a:rPr>
              <a:t>No custom code — configurable by IT admin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400800" y="4773168"/>
            <a:ext cx="54864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6510528" y="4864608"/>
            <a:ext cx="329184" cy="329184"/>
          </a:xfrm>
          <a:prstGeom prst="lin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510528" y="4864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949440" y="484632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Power BI Desktop is free to build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949440" y="510235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66573"/>
                </a:solidFill>
              </a:rPr>
              <a:t>Publish to Power BI Service for sharing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400800" y="5596128"/>
            <a:ext cx="5486400" cy="713232"/>
          </a:xfrm>
          <a:prstGeom prst="rect">
            <a:avLst/>
          </a:prstGeom>
          <a:solidFill>
            <a:srgbClr val="FFF8F8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6510528" y="5687568"/>
            <a:ext cx="329184" cy="329184"/>
          </a:xfrm>
          <a:prstGeom prst="line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510528" y="5687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!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6949440" y="5669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Dataverse requires Power Apps Premium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949440" y="592531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66573"/>
                </a:solidFill>
              </a:rPr>
              <a:t>Needed for Tier 2 validated storage — licenced per user at reporting tier only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6400800" y="6473952"/>
            <a:ext cx="5486400" cy="256032"/>
          </a:xfrm>
          <a:prstGeom prst="rect">
            <a:avLst/>
          </a:prstGeom>
          <a:solidFill>
            <a:srgbClr val="F4F6F7"/>
          </a:solidFill>
          <a:ln w="635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640080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66573"/>
                </a:solidFill>
              </a:rPr>
              <a:t>No Python · No custom database · No third-party software · Fully maintainable by DCP IT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65760" y="256032"/>
            <a:ext cx="1280160" cy="256032"/>
          </a:xfrm>
          <a:prstGeom prst="roundRect">
            <a:avLst>
              <a:gd name="adj" fmla="val 1785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SLIDE 07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920240" y="16459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Business Case &amp; Expected Impact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2651760" cy="1371600"/>
          </a:xfrm>
          <a:prstGeom prst="rect">
            <a:avLst/>
          </a:prstGeom>
          <a:solidFill>
            <a:srgbClr val="C0392B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115568"/>
            <a:ext cx="26517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↓ ₦6–10B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801368"/>
            <a:ext cx="26517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DC3C7"/>
                </a:solidFill>
              </a:rPr>
              <a:t>Est. Annual Fuel &amp; Energy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DC3C7"/>
                </a:solidFill>
              </a:rPr>
              <a:t>Savings from better SHC tracking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7832" y="1005840"/>
            <a:ext cx="2651760" cy="1371600"/>
          </a:xfrm>
          <a:prstGeom prst="rect">
            <a:avLst/>
          </a:prstGeom>
          <a:solidFill>
            <a:srgbClr val="E67E22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27832" y="1115568"/>
            <a:ext cx="26517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↓ ₦3–5B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227832" y="1801368"/>
            <a:ext cx="26517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DC3C7"/>
                </a:solidFill>
              </a:rPr>
              <a:t>Est. Maintenance Cost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DC3C7"/>
                </a:solidFill>
              </a:rPr>
              <a:t>Reduction from PM compliance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89904" y="1005840"/>
            <a:ext cx="2651760" cy="1371600"/>
          </a:xfrm>
          <a:prstGeom prst="rect">
            <a:avLst/>
          </a:prstGeom>
          <a:solidFill>
            <a:srgbClr val="2980B9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089904" y="1115568"/>
            <a:ext cx="26517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&lt; 2 Hours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089904" y="1801368"/>
            <a:ext cx="26517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DC3C7"/>
                </a:solidFill>
              </a:rPr>
              <a:t>KPI Reporting Cycle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DC3C7"/>
                </a:solidFill>
              </a:rPr>
              <a:t>vs. current 24–48 hour manual process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951976" y="1005840"/>
            <a:ext cx="2651760" cy="1371600"/>
          </a:xfrm>
          <a:prstGeom prst="rect">
            <a:avLst/>
          </a:prstGeom>
          <a:solidFill>
            <a:srgbClr val="27AE60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951976" y="1115568"/>
            <a:ext cx="26517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&gt; 95%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8951976" y="1801368"/>
            <a:ext cx="26517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DC3C7"/>
                </a:solidFill>
              </a:rPr>
              <a:t>Target Data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DC3C7"/>
                </a:solidFill>
              </a:rPr>
              <a:t>Completeness &amp; Timeliness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" y="2606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</a:rPr>
              <a:t>Cost vs. Benefit Summary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999232"/>
          <a:ext cx="5486400" cy="268224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Cost Item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Estimate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Notes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Power Apps Premium (Dataverse)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₦2–4M/yr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Reporting tier users only (~20 licences)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Power BI Pro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₦1–2M/yr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Managers + executives (~15 licences)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Implementation &amp; Training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₦5–8M one-off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IT setup, training, pilot deployment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Ongoing IT Administration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₦1–2M/yr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Part-time IT admin, no dedicated hire needed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Total Year 1 Cost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~₦9–16M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000000"/>
                          </a:solidFill>
                        </a:rPr>
                        <a:t>All-in including one-off costs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7AE60"/>
                          </a:solidFill>
                        </a:rPr>
                        <a:t>Conservative Annual Benefit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7AE60"/>
                          </a:solidFill>
                        </a:rPr>
                        <a:t>&gt;₦9B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000000"/>
                          </a:solidFill>
                        </a:rPr>
                        <a:t>Energy + maintenance savings alone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6400800" y="2606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</a:rPr>
              <a:t>KPI System → EBITDA Bridge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400800" y="2999232"/>
            <a:ext cx="54864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6400800" y="2999232"/>
            <a:ext cx="91440" cy="5486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583680" y="30449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2E"/>
                </a:solidFill>
              </a:rPr>
              <a:t>Specific Heat Consumption KPI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583680" y="327355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66573"/>
                </a:solidFill>
              </a:rPr>
              <a:t>Direct driver of ₦681.9B fuel &amp; power cost line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6400800" y="3621024"/>
            <a:ext cx="54864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6400800" y="3621024"/>
            <a:ext cx="91440" cy="5486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6583680" y="36667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2E"/>
                </a:solidFill>
              </a:rPr>
              <a:t>Clinker Factor KPI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583680" y="389534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66573"/>
                </a:solidFill>
              </a:rPr>
              <a:t>Controls ₦385.5B materials consumed cost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6400800" y="4242816"/>
            <a:ext cx="54864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6400800" y="4242816"/>
            <a:ext cx="91440" cy="5486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583680" y="42885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2E"/>
                </a:solidFill>
              </a:rPr>
              <a:t>PM Compliance + MTBF KPIs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6583680" y="4517136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66573"/>
                </a:solidFill>
              </a:rPr>
              <a:t>Reduces unplanned downtime in ₦165.9B maintenance cost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6400800" y="4864608"/>
            <a:ext cx="54864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6400800" y="4864608"/>
            <a:ext cx="91440" cy="5486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6583680" y="49103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2E"/>
                </a:solidFill>
              </a:rPr>
              <a:t>OEE + Kiln Utilization KPIs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6583680" y="5138928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66573"/>
                </a:solidFill>
              </a:rPr>
              <a:t>Drives volume output efficiency across 35 Mta capacity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6400800" y="5486400"/>
            <a:ext cx="54864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6400800" y="5486400"/>
            <a:ext cx="91440" cy="5486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583680" y="55321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2E"/>
                </a:solidFill>
              </a:rPr>
              <a:t>Thermal Substitution Rate KPI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6583680" y="576072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66573"/>
                </a:solidFill>
              </a:rPr>
              <a:t>Supports Dangote's 10% TSR target — direct fuel cost hedge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6400800" y="6108192"/>
            <a:ext cx="54864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39"/>
          <p:cNvSpPr/>
          <p:nvPr/>
        </p:nvSpPr>
        <p:spPr>
          <a:xfrm>
            <a:off x="6400800" y="6108192"/>
            <a:ext cx="91440" cy="5486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6583680" y="61539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2E"/>
                </a:solidFill>
              </a:rPr>
              <a:t>Submission Timeliness KPI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6583680" y="638251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66573"/>
                </a:solidFill>
              </a:rPr>
              <a:t>Reduces management decision lag — protects margin response time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93192" y="6382512"/>
            <a:ext cx="5486400" cy="256032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46" name="Text 43"/>
          <p:cNvSpPr/>
          <p:nvPr/>
        </p:nvSpPr>
        <p:spPr>
          <a:xfrm>
            <a:off x="457200" y="637133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FFFFF"/>
                </a:solidFill>
              </a:rPr>
              <a:t>Nigeria EBITDA improved from 49.6% → 59.6% in 2025. This system provides the data infrastructure to sustain and extend that improvement.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65760" y="256032"/>
            <a:ext cx="1280160" cy="256032"/>
          </a:xfrm>
          <a:prstGeom prst="roundRect">
            <a:avLst>
              <a:gd name="adj" fmla="val 1785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SLIDE 08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920240" y="16459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Risk, Safety, Sustainability &amp; Mitigation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</a:rPr>
              <a:t>Risk Register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246911"/>
              </p:ext>
            </p:extLst>
          </p:nvPr>
        </p:nvGraphicFramePr>
        <p:xfrm>
          <a:off x="365760" y="1417320"/>
          <a:ext cx="11430000" cy="4690291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55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Category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Severity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Mitigation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5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Change Mgmt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Operator resistance to digital submission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Phased rollout starting with Obajana. Champions programme — train 2 super-users per plant before go-live.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5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Technical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SharePoint 5,000-item list threshold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E67E22"/>
                          </a:solidFill>
                        </a:rPr>
                        <a:t>Medium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Implement indexed columns and filtered views. Archive completed submissions quarterly to maintain performance.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768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Security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RLS misconfiguration — wrong data visible to users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Dedicated Power BI RLS testing protocol before go-live. Role assignments managed centrally by IT admin only.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55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Licensing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Dataverse premium cost exceeds budget approval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E67E22"/>
                          </a:solidFill>
                        </a:rPr>
                        <a:t>Medium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Limit Dataverse licences to reporting/admin tier. SharePoint entry tier requires no premium licence.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55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Continuity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Internet/network outage prevents form submission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E67E22"/>
                          </a:solidFill>
                        </a:rPr>
                        <a:t>Medium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Power Apps offline mode enabled. Data syncs when connectivity restores. Paper backup form for critical outages.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55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Data Quality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Operators enter plausible-but-incorrect values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7AE60"/>
                          </a:solidFill>
                        </a:rPr>
                        <a:t>Low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Cross-validation rules comparing related KPIs (e.g. clinker consumed vs. cement produced ratio checks).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65760" y="256032"/>
            <a:ext cx="1280160" cy="256032"/>
          </a:xfrm>
          <a:prstGeom prst="roundRect">
            <a:avLst>
              <a:gd name="adj" fmla="val 1785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SLIDE 09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920240" y="16459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Implementation Roadmap &amp; Resources Required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370332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3703320" cy="77724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051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PHASE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129844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Immediate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43200" y="1115568"/>
            <a:ext cx="1188720" cy="457200"/>
          </a:xfrm>
          <a:prstGeom prst="rect">
            <a:avLst/>
          </a:prstGeom>
          <a:solidFill>
            <a:srgbClr val="2C3E50"/>
          </a:solidFill>
          <a:ln w="1270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43200" y="11155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 – 30 Days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1920240"/>
            <a:ext cx="34290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</a:rPr>
              <a:t>Configure SharePoint lists at Obajana (pilot plant)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</a:rPr>
              <a:t>Build Power Apps KPI entry form — all 5 input categories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</a:rPr>
              <a:t>Set up Power Automate validation flow (completeness + range rules)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</a:rPr>
              <a:t>Create DIM tables in Dataverse (Plant, KilnLine, User, Role)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</a:rPr>
              <a:t>Train 2 super-users at Obajana as change champions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</a:rPr>
              <a:t>Establish KPI submission deadline schedule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97680" y="1005840"/>
            <a:ext cx="370332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297680" y="1005840"/>
            <a:ext cx="3703320" cy="777240"/>
          </a:xfrm>
          <a:prstGeom prst="rect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434840" y="1051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PHASE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34840" y="129844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Short-Term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675120" y="1115568"/>
            <a:ext cx="1188720" cy="457200"/>
          </a:xfrm>
          <a:prstGeom prst="rect">
            <a:avLst/>
          </a:prstGeom>
          <a:solidFill>
            <a:srgbClr val="2C3E50"/>
          </a:solidFill>
          <a:ln w="1270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675120" y="11155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 – 3 Months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434840" y="1920240"/>
            <a:ext cx="34290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</a:rPr>
              <a:t>Go-live at all 4 plants after Obajana pilot review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</a:rPr>
              <a:t>Deploy Power Automate approval + escalation flows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</a:rPr>
              <a:t>Publish Power BI dashboards with RLS — all 5 role views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</a:rPr>
              <a:t>Connect SharePoint → Dataverse promotion workflow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</a:rPr>
              <a:t>Train all plant managers and data quality officers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</a:rPr>
              <a:t>Establish exception resolution SLA (48-hour target)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229600" y="1005840"/>
            <a:ext cx="370332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AE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229600" y="1005840"/>
            <a:ext cx="3703320" cy="777240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366760" y="1051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PHASE 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366760" y="129844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Medium-Term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0607040" y="1115568"/>
            <a:ext cx="1188720" cy="457200"/>
          </a:xfrm>
          <a:prstGeom prst="rect">
            <a:avLst/>
          </a:prstGeom>
          <a:solidFill>
            <a:srgbClr val="2C3E50"/>
          </a:solidFill>
          <a:ln w="1270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607040" y="11155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 – 6 Months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366760" y="1920240"/>
            <a:ext cx="34290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</a:rPr>
              <a:t>Integrate with ERP / SAP for financial KPI reconciliation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</a:rPr>
              <a:t>Add predictive exception rules based on historical patterns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</a:rPr>
              <a:t>SCADA integration for auto-population of production meter readings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</a:rPr>
              <a:t>Expand KPI set to full 25 (including supporting KPIs)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</a:rPr>
              <a:t>Executive Power BI app for mobile reporting</a:t>
            </a:r>
            <a:endParaRPr lang="en-US" sz="1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</a:rPr>
              <a:t>Annual KPI taxonomy review and validation rule update cycle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6327648"/>
            <a:ext cx="11430000" cy="32004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2920" y="63276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39C12"/>
                </a:solidFill>
              </a:rPr>
              <a:t>Resources Required: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377440" y="6327648"/>
            <a:ext cx="923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1× IT admin (Power Platform)   ·   2× Super-users per plant   ·   Microsoft 365 tenant   ·   Dataverse premium (~20 licences)   ·   Power BI Pro (~15 licences)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274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SLIDE 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68580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</a:rPr>
              <a:t>Final</a:t>
            </a:r>
            <a:endParaRPr lang="en-US" sz="3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</a:rPr>
              <a:t>Recommendation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74320" y="2240280"/>
            <a:ext cx="4023360" cy="0"/>
          </a:xfrm>
          <a:prstGeom prst="line">
            <a:avLst/>
          </a:prstGeom>
          <a:noFill/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2377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</a:rPr>
              <a:t>&amp; Pilot Proposal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74320" y="2971800"/>
            <a:ext cx="4023360" cy="2560320"/>
          </a:xfrm>
          <a:prstGeom prst="rect">
            <a:avLst/>
          </a:prstGeom>
          <a:solidFill>
            <a:srgbClr val="922B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3063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Our Recommendation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3401568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Deploy the DCP Digital KPI Reporting System using Microsoft Power Platform across all four Nigerian plants — beginning with a 30-day Obajana pilot — to eliminate manual reporting, enforce data quality, and give management the real-time operational visibility needed to sustain and grow Nigeria's 59.6% EBITDA margin.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74320" y="649224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FFFFF"/>
                </a:solidFill>
              </a:rPr>
              <a:t>Dangote Industries Innovation Challenge  |  Challenge 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0" y="274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Five Reasons to Approve This Proposal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29200" y="822960"/>
            <a:ext cx="6858000" cy="987552"/>
          </a:xfrm>
          <a:prstGeom prst="rect">
            <a:avLst/>
          </a:prstGeom>
          <a:solidFill>
            <a:srgbClr val="2C3E50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029200" y="822960"/>
            <a:ext cx="640080" cy="9875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0" y="822960"/>
            <a:ext cx="640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760720" y="886968"/>
            <a:ext cx="5989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Built on Infrastructure DCP Already Has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760720" y="1188720"/>
            <a:ext cx="5989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DC3C7"/>
                </a:solidFill>
              </a:rPr>
              <a:t>Power Platform runs on Microsoft 365 — no new vendor, no new procurement cycle, no unfamiliar technology to manage.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0" y="1938528"/>
            <a:ext cx="6858000" cy="987552"/>
          </a:xfrm>
          <a:prstGeom prst="rect">
            <a:avLst/>
          </a:prstGeom>
          <a:solidFill>
            <a:srgbClr val="2C3E50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029200" y="1938528"/>
            <a:ext cx="640080" cy="9875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29200" y="1938528"/>
            <a:ext cx="640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760720" y="2002536"/>
            <a:ext cx="5989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ROI is Asymmetric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760720" y="2304288"/>
            <a:ext cx="5989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DC3C7"/>
                </a:solidFill>
              </a:rPr>
              <a:t>~₦16M Year 1 total cost against &gt;₦9B in conservative operational savings. The business case does not require optimistic assumptions.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0" y="3054096"/>
            <a:ext cx="6858000" cy="987552"/>
          </a:xfrm>
          <a:prstGeom prst="rect">
            <a:avLst/>
          </a:prstGeom>
          <a:solidFill>
            <a:srgbClr val="2C3E50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0" y="3054096"/>
            <a:ext cx="640080" cy="9875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29200" y="3054096"/>
            <a:ext cx="640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760720" y="3118104"/>
            <a:ext cx="5989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Directly Addresses the Brief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760720" y="3419856"/>
            <a:ext cx="5989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DC3C7"/>
                </a:solidFill>
              </a:rPr>
              <a:t>Every challenge deliverable is met: KPI data model, validation rule library, exception dashboard, and plant sign-off + escalation process.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029200" y="4169664"/>
            <a:ext cx="6858000" cy="987552"/>
          </a:xfrm>
          <a:prstGeom prst="rect">
            <a:avLst/>
          </a:prstGeom>
          <a:solidFill>
            <a:srgbClr val="2C3E50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029200" y="4169664"/>
            <a:ext cx="640080" cy="9875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029200" y="4169664"/>
            <a:ext cx="640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760720" y="4233672"/>
            <a:ext cx="5989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Designed for Scale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760720" y="4535424"/>
            <a:ext cx="5989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DC3C7"/>
                </a:solidFill>
              </a:rPr>
              <a:t>Star schema data model, Dataverse validated store, and Power BI RLS architecture scale from 4 plants today to any future expansion.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029200" y="5285232"/>
            <a:ext cx="6858000" cy="987552"/>
          </a:xfrm>
          <a:prstGeom prst="rect">
            <a:avLst/>
          </a:prstGeom>
          <a:solidFill>
            <a:srgbClr val="2C3E50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029200" y="5285232"/>
            <a:ext cx="640080" cy="9875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029200" y="5285232"/>
            <a:ext cx="640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760720" y="5349240"/>
            <a:ext cx="5989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Pilot First — Prove Before Scaling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760720" y="5650992"/>
            <a:ext cx="5989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DC3C7"/>
                </a:solidFill>
              </a:rPr>
              <a:t>30-day Obajana pilot de-risks the investment and produces a working proof-of-concept before committing to full four-plant deployment.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029200" y="6492240"/>
            <a:ext cx="685800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029200" y="6492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Approve the Obajana 30-Day Pilot  →  Validate Results  →  Scale to All Four Plants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2279</Words>
  <Application>Microsoft Office PowerPoint</Application>
  <PresentationFormat>Widescreen</PresentationFormat>
  <Paragraphs>351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DCP Digital KPI Automation — Challenge 4</dc:title>
  <dc:subject>PptxGenJS Presentation</dc:subject>
  <dc:creator>Innovation Challenge Submission</dc:creator>
  <cp:lastModifiedBy>Erioluwa Akinfisoye</cp:lastModifiedBy>
  <cp:revision>4</cp:revision>
  <dcterms:created xsi:type="dcterms:W3CDTF">2026-07-06T10:27:18Z</dcterms:created>
  <dcterms:modified xsi:type="dcterms:W3CDTF">2026-07-09T21:20:33Z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2026-07-09T20:42:08Z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06aa234b-7c92-414e-9de0-6bff9bdac3f9</vt:lpwstr>
  </property>
  <property fmtid="{D5CDD505-2E9C-101B-9397-08002B2CF9AE}" pid="7" name="MSIP_Label_defa4170-0d19-0005-0004-bc88714345d2_ActionId">
    <vt:lpwstr>24783731-3d8a-42b3-b51f-a7f8e99843c2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